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311" r:id="rId5"/>
    <p:sldId id="313" r:id="rId6"/>
    <p:sldId id="329" r:id="rId7"/>
    <p:sldId id="335" r:id="rId8"/>
    <p:sldId id="337" r:id="rId9"/>
    <p:sldId id="338" r:id="rId10"/>
    <p:sldId id="347" r:id="rId11"/>
    <p:sldId id="345" r:id="rId12"/>
    <p:sldId id="342" r:id="rId13"/>
    <p:sldId id="343" r:id="rId14"/>
    <p:sldId id="346" r:id="rId15"/>
    <p:sldId id="344" r:id="rId16"/>
    <p:sldId id="349" r:id="rId17"/>
    <p:sldId id="351" r:id="rId18"/>
    <p:sldId id="352" r:id="rId19"/>
    <p:sldId id="348" r:id="rId20"/>
    <p:sldId id="353" r:id="rId21"/>
    <p:sldId id="350" r:id="rId22"/>
    <p:sldId id="34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BB1CFC9-C2F5-46D7-A381-55DE1282BD37}">
          <p14:sldIdLst>
            <p14:sldId id="311"/>
            <p14:sldId id="313"/>
            <p14:sldId id="329"/>
            <p14:sldId id="335"/>
            <p14:sldId id="337"/>
            <p14:sldId id="338"/>
            <p14:sldId id="347"/>
            <p14:sldId id="345"/>
            <p14:sldId id="342"/>
            <p14:sldId id="343"/>
            <p14:sldId id="346"/>
            <p14:sldId id="344"/>
            <p14:sldId id="349"/>
            <p14:sldId id="351"/>
            <p14:sldId id="352"/>
            <p14:sldId id="348"/>
            <p14:sldId id="353"/>
            <p14:sldId id="350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127"/>
    <a:srgbClr val="CA1F24"/>
    <a:srgbClr val="F8F8F8"/>
    <a:srgbClr val="FBFBFB"/>
    <a:srgbClr val="D9D9D9"/>
    <a:srgbClr val="E7E6E6"/>
    <a:srgbClr val="CB1F24"/>
    <a:srgbClr val="C71E23"/>
    <a:srgbClr val="E6E6E6"/>
    <a:srgbClr val="8A8A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4C05C-0352-4C93-9380-EBF3685F5C53}" v="1" dt="2026-03-16T12:01:11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5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C08FA0-10EA-4106-BF5F-0FDDB8D46A6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9C466-5DD7-4471-B93C-DA887477F7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95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50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110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287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A8AF-1F4B-57F3-3FBC-9C376FE4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DF9B87-957E-765F-5354-00F8BED8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0412D5-4341-8B85-FBAE-88957BC01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43F8A9-D320-1BE7-8654-376D05F43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82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0CEA6-E036-03FF-77A7-8C16A48E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BB687F-581D-BC14-D068-8E9373F5B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0F6629-3383-A78B-9B2F-4D03FFB64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E0ED23-AF8B-F06C-D1D7-B9B6EB445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58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D04C-A49A-58AE-6FEF-38083B50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C532DC-90C3-8043-399B-4D51D0D20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1028E7-3ED7-8F36-E845-20CEAA9BE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BF209F-354F-6981-A42F-7BE43E169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775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359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914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A45F7-B57C-234C-C50C-9563F170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04789F-F174-9F0B-42DA-8B7CBD2CB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22432A-B728-089A-8690-5B8291375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DFA14-B650-529B-A975-8CF09401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68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083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9C466-5DD7-4471-B93C-DA887477F71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764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48DC5-43DE-4DE0-A9AE-0E5C0EA30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745D41-E265-4B16-A01D-D741E12D8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76F643-7A1C-4FF5-96F8-2260C2ED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C0B9A3-E21F-4CB1-8BD3-9CF3B065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DA8D7C-7A58-47D0-B9AA-935E0885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16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1B527-E25F-4F21-B2C0-C5BEC2AB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1846D0-9937-4714-AF3A-8BB797678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34E25-31D0-4BBB-9737-D8ED3925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E0232-8177-44DF-9E9A-F213CC37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EF260-80CB-4C04-A710-B356965B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38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23B45-F4DF-48A8-BB7E-2BAA40F5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EF6B19-694E-4E16-91AC-325E6622D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6E0B53-07B7-429A-9AD4-00D9B10A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91A0AB-008D-448D-83F5-3AAF9A89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D47573-01D7-464C-B428-5DE5653A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30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CFB92-7FB9-4901-BB48-5007EB9A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9096DE-74DA-449F-A296-250EBDA5C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9DE75E-5A1E-43A1-9A96-2F16F4ED5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F71B14-1743-4CCF-9905-55D14E9D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7AB978-C80B-497E-971E-D23D80DF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1FAD5F-2ED4-4966-AADD-7E10E93C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61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58ED7-5183-48E4-9FDC-93F329D5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300D74-27C5-4489-AFF8-01E2F5558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5D8CB-E4C4-409B-8E93-29A5D704F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78E389-6467-4DE1-9615-397389F3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D5C83F-8588-44BC-8353-817CC7C73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FA7512-BD2D-47A4-9EC7-A9DBA3243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58C5A9-F460-4E9E-84DE-1C903282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D8D42A-1460-484A-ADA8-B505304D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00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93439-CB48-4E0D-8865-9E63B4319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C192A2-C324-4DD1-A2BC-DF09658A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337460-DB7C-4451-953D-EA028F88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2EAD24-698D-4EB5-A22A-A232C575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4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536922C-6C20-4E93-8A57-744E35B0FE98}"/>
              </a:ext>
            </a:extLst>
          </p:cNvPr>
          <p:cNvSpPr/>
          <p:nvPr userDrawn="1"/>
        </p:nvSpPr>
        <p:spPr>
          <a:xfrm>
            <a:off x="0" y="0"/>
            <a:ext cx="12192000" cy="101548"/>
          </a:xfrm>
          <a:prstGeom prst="rect">
            <a:avLst/>
          </a:prstGeom>
          <a:gradFill flip="none" rotWithShape="1">
            <a:gsLst>
              <a:gs pos="70000">
                <a:srgbClr val="DA2127"/>
              </a:gs>
              <a:gs pos="100000">
                <a:srgbClr val="A3191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C018FA-39C5-4CE4-891E-BDB6D9D75480}"/>
              </a:ext>
            </a:extLst>
          </p:cNvPr>
          <p:cNvCxnSpPr>
            <a:cxnSpLocks/>
          </p:cNvCxnSpPr>
          <p:nvPr userDrawn="1"/>
        </p:nvCxnSpPr>
        <p:spPr>
          <a:xfrm>
            <a:off x="171948" y="6418136"/>
            <a:ext cx="1184810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B3C539C-DA76-401D-A1D9-66F3F7E073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1" y="6540515"/>
            <a:ext cx="1170069" cy="15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1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E9BE2-C8FD-4EDF-99A2-D36AEFD0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5809E-3958-4CE1-A58D-90DEAAEBC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0BBBE9-A8CE-49F3-956C-5DAC249F6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E143B3-5B2D-49D5-AB23-5CD00D0E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48D8B2-709D-43CB-B432-2E991807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76CB6F-F667-4480-B624-697F52A4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189C-39C4-42A7-A712-77592548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FD2380-9E1E-4A88-8C17-F6BA1983A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1F064-9720-434E-998D-26188D6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B4D5A-0093-47F3-A1E6-5B9FBB6B6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AB4E28-41B6-42BB-9C60-FF5B8951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C8689D-2F08-4FE5-BEDA-F5C49773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33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D0B94-8E52-42A1-BD87-8B3997CD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259A5-7A6B-4801-BBE8-DFDB5100B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285D24-BF87-42EC-94F9-4D131F80F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C66FD6-E8ED-4BA6-AF0D-C75D902E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2D9B9-E73D-4D4F-8E9E-E46AA38B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10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2FDFCF-1652-4ECF-9CEA-4775E4E48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6C81CF-9050-401A-A4C4-CF09E63C3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4E0CD9-3181-4FB1-AA1C-59E44E0F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79187-D820-41F6-AE86-830D1158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797B7-165E-4966-A27B-FFDD5E44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59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0C1FE9-0A05-4172-8EFB-E952A95D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927E4-9B8D-440C-B9AA-631FF0C53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FB799-8A9D-437D-B7FF-790A9576E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B7393-B9E2-43EF-B61F-97C6FEFEB07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E42C9-EA16-49B7-8C26-52A391992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F51F92-A0BE-4974-BC5D-2CF6C9DE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FD0D6-15CC-43E7-B36B-556FE4257E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52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41">
            <a:extLst>
              <a:ext uri="{FF2B5EF4-FFF2-40B4-BE49-F238E27FC236}">
                <a16:creationId xmlns:a16="http://schemas.microsoft.com/office/drawing/2014/main" id="{491F4A9E-E5A8-4E3D-BDCB-9F6C609018D4}"/>
              </a:ext>
            </a:extLst>
          </p:cNvPr>
          <p:cNvSpPr>
            <a:spLocks noEditPoints="1"/>
          </p:cNvSpPr>
          <p:nvPr/>
        </p:nvSpPr>
        <p:spPr bwMode="auto">
          <a:xfrm>
            <a:off x="5483667" y="179966"/>
            <a:ext cx="1224666" cy="1204232"/>
          </a:xfrm>
          <a:custGeom>
            <a:avLst/>
            <a:gdLst>
              <a:gd name="T0" fmla="*/ 686 w 1614"/>
              <a:gd name="T1" fmla="*/ 784 h 1587"/>
              <a:gd name="T2" fmla="*/ 686 w 1614"/>
              <a:gd name="T3" fmla="*/ 714 h 1587"/>
              <a:gd name="T4" fmla="*/ 926 w 1614"/>
              <a:gd name="T5" fmla="*/ 714 h 1587"/>
              <a:gd name="T6" fmla="*/ 679 w 1614"/>
              <a:gd name="T7" fmla="*/ 1012 h 1587"/>
              <a:gd name="T8" fmla="*/ 919 w 1614"/>
              <a:gd name="T9" fmla="*/ 986 h 1587"/>
              <a:gd name="T10" fmla="*/ 904 w 1614"/>
              <a:gd name="T11" fmla="*/ 869 h 1587"/>
              <a:gd name="T12" fmla="*/ 708 w 1614"/>
              <a:gd name="T13" fmla="*/ 869 h 1587"/>
              <a:gd name="T14" fmla="*/ 938 w 1614"/>
              <a:gd name="T15" fmla="*/ 544 h 1587"/>
              <a:gd name="T16" fmla="*/ 847 w 1614"/>
              <a:gd name="T17" fmla="*/ 528 h 1587"/>
              <a:gd name="T18" fmla="*/ 711 w 1614"/>
              <a:gd name="T19" fmla="*/ 955 h 1587"/>
              <a:gd name="T20" fmla="*/ 711 w 1614"/>
              <a:gd name="T21" fmla="*/ 914 h 1587"/>
              <a:gd name="T22" fmla="*/ 983 w 1614"/>
              <a:gd name="T23" fmla="*/ 1141 h 1587"/>
              <a:gd name="T24" fmla="*/ 641 w 1614"/>
              <a:gd name="T25" fmla="*/ 1170 h 1587"/>
              <a:gd name="T26" fmla="*/ 1147 w 1614"/>
              <a:gd name="T27" fmla="*/ 806 h 1587"/>
              <a:gd name="T28" fmla="*/ 1106 w 1614"/>
              <a:gd name="T29" fmla="*/ 891 h 1587"/>
              <a:gd name="T30" fmla="*/ 1128 w 1614"/>
              <a:gd name="T31" fmla="*/ 626 h 1587"/>
              <a:gd name="T32" fmla="*/ 1043 w 1614"/>
              <a:gd name="T33" fmla="*/ 667 h 1587"/>
              <a:gd name="T34" fmla="*/ 1611 w 1614"/>
              <a:gd name="T35" fmla="*/ 585 h 1587"/>
              <a:gd name="T36" fmla="*/ 1283 w 1614"/>
              <a:gd name="T37" fmla="*/ 389 h 1587"/>
              <a:gd name="T38" fmla="*/ 831 w 1614"/>
              <a:gd name="T39" fmla="*/ 13 h 1587"/>
              <a:gd name="T40" fmla="*/ 803 w 1614"/>
              <a:gd name="T41" fmla="*/ 0 h 1587"/>
              <a:gd name="T42" fmla="*/ 784 w 1614"/>
              <a:gd name="T43" fmla="*/ 10 h 1587"/>
              <a:gd name="T44" fmla="*/ 464 w 1614"/>
              <a:gd name="T45" fmla="*/ 376 h 1587"/>
              <a:gd name="T46" fmla="*/ 3 w 1614"/>
              <a:gd name="T47" fmla="*/ 582 h 1587"/>
              <a:gd name="T48" fmla="*/ 6 w 1614"/>
              <a:gd name="T49" fmla="*/ 613 h 1587"/>
              <a:gd name="T50" fmla="*/ 227 w 1614"/>
              <a:gd name="T51" fmla="*/ 1157 h 1587"/>
              <a:gd name="T52" fmla="*/ 303 w 1614"/>
              <a:gd name="T53" fmla="*/ 1527 h 1587"/>
              <a:gd name="T54" fmla="*/ 809 w 1614"/>
              <a:gd name="T55" fmla="*/ 1429 h 1587"/>
              <a:gd name="T56" fmla="*/ 1286 w 1614"/>
              <a:gd name="T57" fmla="*/ 1536 h 1587"/>
              <a:gd name="T58" fmla="*/ 1308 w 1614"/>
              <a:gd name="T59" fmla="*/ 1527 h 1587"/>
              <a:gd name="T60" fmla="*/ 1317 w 1614"/>
              <a:gd name="T61" fmla="*/ 1508 h 1587"/>
              <a:gd name="T62" fmla="*/ 1460 w 1614"/>
              <a:gd name="T63" fmla="*/ 936 h 1587"/>
              <a:gd name="T64" fmla="*/ 1614 w 1614"/>
              <a:gd name="T65" fmla="*/ 594 h 1587"/>
              <a:gd name="T66" fmla="*/ 720 w 1614"/>
              <a:gd name="T67" fmla="*/ 120 h 1587"/>
              <a:gd name="T68" fmla="*/ 1039 w 1614"/>
              <a:gd name="T69" fmla="*/ 294 h 1587"/>
              <a:gd name="T70" fmla="*/ 209 w 1614"/>
              <a:gd name="T71" fmla="*/ 901 h 1587"/>
              <a:gd name="T72" fmla="*/ 142 w 1614"/>
              <a:gd name="T73" fmla="*/ 541 h 1587"/>
              <a:gd name="T74" fmla="*/ 294 w 1614"/>
              <a:gd name="T75" fmla="*/ 847 h 1587"/>
              <a:gd name="T76" fmla="*/ 515 w 1614"/>
              <a:gd name="T77" fmla="*/ 1508 h 1587"/>
              <a:gd name="T78" fmla="*/ 284 w 1614"/>
              <a:gd name="T79" fmla="*/ 1186 h 1587"/>
              <a:gd name="T80" fmla="*/ 806 w 1614"/>
              <a:gd name="T81" fmla="*/ 1299 h 1587"/>
              <a:gd name="T82" fmla="*/ 1346 w 1614"/>
              <a:gd name="T83" fmla="*/ 1328 h 1587"/>
              <a:gd name="T84" fmla="*/ 967 w 1614"/>
              <a:gd name="T85" fmla="*/ 1448 h 1587"/>
              <a:gd name="T86" fmla="*/ 1330 w 1614"/>
              <a:gd name="T87" fmla="*/ 1186 h 1587"/>
              <a:gd name="T88" fmla="*/ 1406 w 1614"/>
              <a:gd name="T89" fmla="*/ 898 h 1587"/>
              <a:gd name="T90" fmla="*/ 1289 w 1614"/>
              <a:gd name="T91" fmla="*/ 455 h 1587"/>
              <a:gd name="T92" fmla="*/ 986 w 1614"/>
              <a:gd name="T93" fmla="*/ 1201 h 1587"/>
              <a:gd name="T94" fmla="*/ 986 w 1614"/>
              <a:gd name="T95" fmla="*/ 1239 h 1587"/>
              <a:gd name="T96" fmla="*/ 951 w 1614"/>
              <a:gd name="T97" fmla="*/ 1097 h 1587"/>
              <a:gd name="T98" fmla="*/ 651 w 1614"/>
              <a:gd name="T99" fmla="*/ 1072 h 1587"/>
              <a:gd name="T100" fmla="*/ 739 w 1614"/>
              <a:gd name="T101" fmla="*/ 594 h 1587"/>
              <a:gd name="T102" fmla="*/ 695 w 1614"/>
              <a:gd name="T103" fmla="*/ 512 h 1587"/>
              <a:gd name="T104" fmla="*/ 553 w 1614"/>
              <a:gd name="T105" fmla="*/ 591 h 1587"/>
              <a:gd name="T106" fmla="*/ 540 w 1614"/>
              <a:gd name="T107" fmla="*/ 686 h 1587"/>
              <a:gd name="T108" fmla="*/ 506 w 1614"/>
              <a:gd name="T109" fmla="*/ 812 h 1587"/>
              <a:gd name="T110" fmla="*/ 439 w 1614"/>
              <a:gd name="T111" fmla="*/ 879 h 1587"/>
              <a:gd name="T112" fmla="*/ 506 w 1614"/>
              <a:gd name="T113" fmla="*/ 812 h 1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614" h="1587">
                <a:moveTo>
                  <a:pt x="926" y="800"/>
                </a:moveTo>
                <a:lnTo>
                  <a:pt x="926" y="784"/>
                </a:lnTo>
                <a:cubicBezTo>
                  <a:pt x="926" y="778"/>
                  <a:pt x="923" y="771"/>
                  <a:pt x="913" y="771"/>
                </a:cubicBezTo>
                <a:lnTo>
                  <a:pt x="698" y="771"/>
                </a:lnTo>
                <a:cubicBezTo>
                  <a:pt x="692" y="771"/>
                  <a:pt x="686" y="778"/>
                  <a:pt x="686" y="784"/>
                </a:cubicBezTo>
                <a:lnTo>
                  <a:pt x="686" y="800"/>
                </a:lnTo>
                <a:cubicBezTo>
                  <a:pt x="686" y="806"/>
                  <a:pt x="692" y="812"/>
                  <a:pt x="698" y="812"/>
                </a:cubicBezTo>
                <a:lnTo>
                  <a:pt x="913" y="812"/>
                </a:lnTo>
                <a:cubicBezTo>
                  <a:pt x="923" y="812"/>
                  <a:pt x="926" y="806"/>
                  <a:pt x="926" y="800"/>
                </a:cubicBezTo>
                <a:close/>
                <a:moveTo>
                  <a:pt x="686" y="714"/>
                </a:moveTo>
                <a:lnTo>
                  <a:pt x="686" y="727"/>
                </a:lnTo>
                <a:cubicBezTo>
                  <a:pt x="686" y="733"/>
                  <a:pt x="692" y="740"/>
                  <a:pt x="698" y="740"/>
                </a:cubicBezTo>
                <a:lnTo>
                  <a:pt x="913" y="740"/>
                </a:lnTo>
                <a:cubicBezTo>
                  <a:pt x="923" y="740"/>
                  <a:pt x="926" y="733"/>
                  <a:pt x="926" y="727"/>
                </a:cubicBezTo>
                <a:lnTo>
                  <a:pt x="926" y="714"/>
                </a:lnTo>
                <a:cubicBezTo>
                  <a:pt x="926" y="705"/>
                  <a:pt x="923" y="699"/>
                  <a:pt x="913" y="699"/>
                </a:cubicBezTo>
                <a:lnTo>
                  <a:pt x="698" y="699"/>
                </a:lnTo>
                <a:cubicBezTo>
                  <a:pt x="692" y="699"/>
                  <a:pt x="686" y="705"/>
                  <a:pt x="686" y="714"/>
                </a:cubicBezTo>
                <a:close/>
                <a:moveTo>
                  <a:pt x="679" y="999"/>
                </a:moveTo>
                <a:lnTo>
                  <a:pt x="679" y="1012"/>
                </a:lnTo>
                <a:cubicBezTo>
                  <a:pt x="679" y="1021"/>
                  <a:pt x="686" y="1024"/>
                  <a:pt x="692" y="1024"/>
                </a:cubicBezTo>
                <a:lnTo>
                  <a:pt x="919" y="1024"/>
                </a:lnTo>
                <a:cubicBezTo>
                  <a:pt x="926" y="1024"/>
                  <a:pt x="932" y="1021"/>
                  <a:pt x="932" y="1012"/>
                </a:cubicBezTo>
                <a:lnTo>
                  <a:pt x="932" y="999"/>
                </a:lnTo>
                <a:cubicBezTo>
                  <a:pt x="932" y="993"/>
                  <a:pt x="926" y="986"/>
                  <a:pt x="919" y="986"/>
                </a:cubicBezTo>
                <a:lnTo>
                  <a:pt x="692" y="986"/>
                </a:lnTo>
                <a:cubicBezTo>
                  <a:pt x="686" y="986"/>
                  <a:pt x="679" y="993"/>
                  <a:pt x="679" y="999"/>
                </a:cubicBezTo>
                <a:close/>
                <a:moveTo>
                  <a:pt x="720" y="882"/>
                </a:moveTo>
                <a:lnTo>
                  <a:pt x="891" y="882"/>
                </a:lnTo>
                <a:cubicBezTo>
                  <a:pt x="897" y="882"/>
                  <a:pt x="904" y="876"/>
                  <a:pt x="904" y="869"/>
                </a:cubicBezTo>
                <a:lnTo>
                  <a:pt x="904" y="857"/>
                </a:lnTo>
                <a:cubicBezTo>
                  <a:pt x="904" y="850"/>
                  <a:pt x="897" y="844"/>
                  <a:pt x="891" y="844"/>
                </a:cubicBezTo>
                <a:lnTo>
                  <a:pt x="720" y="844"/>
                </a:lnTo>
                <a:cubicBezTo>
                  <a:pt x="714" y="844"/>
                  <a:pt x="708" y="850"/>
                  <a:pt x="708" y="857"/>
                </a:cubicBezTo>
                <a:lnTo>
                  <a:pt x="708" y="869"/>
                </a:lnTo>
                <a:cubicBezTo>
                  <a:pt x="708" y="876"/>
                  <a:pt x="714" y="882"/>
                  <a:pt x="720" y="882"/>
                </a:cubicBezTo>
                <a:close/>
                <a:moveTo>
                  <a:pt x="878" y="594"/>
                </a:moveTo>
                <a:lnTo>
                  <a:pt x="910" y="569"/>
                </a:lnTo>
                <a:lnTo>
                  <a:pt x="951" y="582"/>
                </a:lnTo>
                <a:lnTo>
                  <a:pt x="938" y="544"/>
                </a:lnTo>
                <a:lnTo>
                  <a:pt x="964" y="512"/>
                </a:lnTo>
                <a:lnTo>
                  <a:pt x="923" y="512"/>
                </a:lnTo>
                <a:lnTo>
                  <a:pt x="897" y="477"/>
                </a:lnTo>
                <a:lnTo>
                  <a:pt x="885" y="515"/>
                </a:lnTo>
                <a:lnTo>
                  <a:pt x="847" y="528"/>
                </a:lnTo>
                <a:lnTo>
                  <a:pt x="878" y="553"/>
                </a:lnTo>
                <a:lnTo>
                  <a:pt x="878" y="594"/>
                </a:lnTo>
                <a:close/>
                <a:moveTo>
                  <a:pt x="698" y="926"/>
                </a:moveTo>
                <a:lnTo>
                  <a:pt x="698" y="942"/>
                </a:lnTo>
                <a:cubicBezTo>
                  <a:pt x="698" y="948"/>
                  <a:pt x="701" y="955"/>
                  <a:pt x="711" y="955"/>
                </a:cubicBezTo>
                <a:lnTo>
                  <a:pt x="904" y="955"/>
                </a:lnTo>
                <a:cubicBezTo>
                  <a:pt x="910" y="955"/>
                  <a:pt x="916" y="948"/>
                  <a:pt x="916" y="942"/>
                </a:cubicBezTo>
                <a:lnTo>
                  <a:pt x="916" y="926"/>
                </a:lnTo>
                <a:cubicBezTo>
                  <a:pt x="916" y="920"/>
                  <a:pt x="910" y="914"/>
                  <a:pt x="904" y="914"/>
                </a:cubicBezTo>
                <a:lnTo>
                  <a:pt x="711" y="914"/>
                </a:lnTo>
                <a:cubicBezTo>
                  <a:pt x="701" y="914"/>
                  <a:pt x="698" y="920"/>
                  <a:pt x="698" y="926"/>
                </a:cubicBezTo>
                <a:close/>
                <a:moveTo>
                  <a:pt x="641" y="1170"/>
                </a:moveTo>
                <a:lnTo>
                  <a:pt x="970" y="1170"/>
                </a:lnTo>
                <a:cubicBezTo>
                  <a:pt x="979" y="1170"/>
                  <a:pt x="983" y="1163"/>
                  <a:pt x="983" y="1157"/>
                </a:cubicBezTo>
                <a:lnTo>
                  <a:pt x="983" y="1141"/>
                </a:lnTo>
                <a:cubicBezTo>
                  <a:pt x="983" y="1135"/>
                  <a:pt x="979" y="1129"/>
                  <a:pt x="970" y="1129"/>
                </a:cubicBezTo>
                <a:lnTo>
                  <a:pt x="641" y="1129"/>
                </a:lnTo>
                <a:cubicBezTo>
                  <a:pt x="635" y="1129"/>
                  <a:pt x="629" y="1135"/>
                  <a:pt x="629" y="1141"/>
                </a:cubicBezTo>
                <a:lnTo>
                  <a:pt x="629" y="1157"/>
                </a:lnTo>
                <a:cubicBezTo>
                  <a:pt x="629" y="1163"/>
                  <a:pt x="635" y="1170"/>
                  <a:pt x="641" y="1170"/>
                </a:cubicBezTo>
                <a:close/>
                <a:moveTo>
                  <a:pt x="1137" y="866"/>
                </a:moveTo>
                <a:lnTo>
                  <a:pt x="1178" y="879"/>
                </a:lnTo>
                <a:lnTo>
                  <a:pt x="1163" y="841"/>
                </a:lnTo>
                <a:lnTo>
                  <a:pt x="1188" y="806"/>
                </a:lnTo>
                <a:lnTo>
                  <a:pt x="1147" y="806"/>
                </a:lnTo>
                <a:lnTo>
                  <a:pt x="1125" y="774"/>
                </a:lnTo>
                <a:lnTo>
                  <a:pt x="1112" y="812"/>
                </a:lnTo>
                <a:lnTo>
                  <a:pt x="1071" y="825"/>
                </a:lnTo>
                <a:lnTo>
                  <a:pt x="1106" y="850"/>
                </a:lnTo>
                <a:lnTo>
                  <a:pt x="1106" y="891"/>
                </a:lnTo>
                <a:lnTo>
                  <a:pt x="1137" y="866"/>
                </a:lnTo>
                <a:close/>
                <a:moveTo>
                  <a:pt x="1077" y="686"/>
                </a:moveTo>
                <a:lnTo>
                  <a:pt x="1115" y="699"/>
                </a:lnTo>
                <a:lnTo>
                  <a:pt x="1103" y="661"/>
                </a:lnTo>
                <a:lnTo>
                  <a:pt x="1128" y="626"/>
                </a:lnTo>
                <a:lnTo>
                  <a:pt x="1087" y="626"/>
                </a:lnTo>
                <a:lnTo>
                  <a:pt x="1062" y="591"/>
                </a:lnTo>
                <a:lnTo>
                  <a:pt x="1049" y="632"/>
                </a:lnTo>
                <a:lnTo>
                  <a:pt x="1011" y="645"/>
                </a:lnTo>
                <a:lnTo>
                  <a:pt x="1043" y="667"/>
                </a:lnTo>
                <a:lnTo>
                  <a:pt x="1043" y="708"/>
                </a:lnTo>
                <a:lnTo>
                  <a:pt x="1077" y="686"/>
                </a:lnTo>
                <a:close/>
                <a:moveTo>
                  <a:pt x="1614" y="591"/>
                </a:moveTo>
                <a:lnTo>
                  <a:pt x="1611" y="588"/>
                </a:lnTo>
                <a:lnTo>
                  <a:pt x="1611" y="585"/>
                </a:lnTo>
                <a:cubicBezTo>
                  <a:pt x="1611" y="579"/>
                  <a:pt x="1605" y="572"/>
                  <a:pt x="1599" y="569"/>
                </a:cubicBezTo>
                <a:lnTo>
                  <a:pt x="1592" y="566"/>
                </a:lnTo>
                <a:cubicBezTo>
                  <a:pt x="1545" y="547"/>
                  <a:pt x="1539" y="534"/>
                  <a:pt x="1529" y="512"/>
                </a:cubicBezTo>
                <a:cubicBezTo>
                  <a:pt x="1520" y="493"/>
                  <a:pt x="1507" y="468"/>
                  <a:pt x="1475" y="436"/>
                </a:cubicBezTo>
                <a:cubicBezTo>
                  <a:pt x="1403" y="364"/>
                  <a:pt x="1317" y="379"/>
                  <a:pt x="1283" y="389"/>
                </a:cubicBezTo>
                <a:cubicBezTo>
                  <a:pt x="1232" y="364"/>
                  <a:pt x="1185" y="364"/>
                  <a:pt x="1150" y="373"/>
                </a:cubicBezTo>
                <a:cubicBezTo>
                  <a:pt x="1150" y="335"/>
                  <a:pt x="1134" y="294"/>
                  <a:pt x="1093" y="256"/>
                </a:cubicBezTo>
                <a:cubicBezTo>
                  <a:pt x="1093" y="218"/>
                  <a:pt x="1081" y="130"/>
                  <a:pt x="989" y="85"/>
                </a:cubicBezTo>
                <a:cubicBezTo>
                  <a:pt x="948" y="63"/>
                  <a:pt x="923" y="60"/>
                  <a:pt x="900" y="57"/>
                </a:cubicBezTo>
                <a:cubicBezTo>
                  <a:pt x="875" y="54"/>
                  <a:pt x="863" y="51"/>
                  <a:pt x="831" y="13"/>
                </a:cubicBezTo>
                <a:lnTo>
                  <a:pt x="825" y="6"/>
                </a:lnTo>
                <a:cubicBezTo>
                  <a:pt x="821" y="3"/>
                  <a:pt x="815" y="0"/>
                  <a:pt x="812" y="0"/>
                </a:cubicBezTo>
                <a:lnTo>
                  <a:pt x="809" y="0"/>
                </a:lnTo>
                <a:lnTo>
                  <a:pt x="806" y="0"/>
                </a:lnTo>
                <a:lnTo>
                  <a:pt x="803" y="0"/>
                </a:lnTo>
                <a:lnTo>
                  <a:pt x="799" y="0"/>
                </a:lnTo>
                <a:lnTo>
                  <a:pt x="796" y="0"/>
                </a:lnTo>
                <a:lnTo>
                  <a:pt x="793" y="3"/>
                </a:lnTo>
                <a:lnTo>
                  <a:pt x="787" y="6"/>
                </a:lnTo>
                <a:lnTo>
                  <a:pt x="784" y="10"/>
                </a:lnTo>
                <a:lnTo>
                  <a:pt x="780" y="13"/>
                </a:lnTo>
                <a:cubicBezTo>
                  <a:pt x="749" y="51"/>
                  <a:pt x="736" y="54"/>
                  <a:pt x="711" y="57"/>
                </a:cubicBezTo>
                <a:cubicBezTo>
                  <a:pt x="689" y="60"/>
                  <a:pt x="663" y="63"/>
                  <a:pt x="622" y="85"/>
                </a:cubicBezTo>
                <a:cubicBezTo>
                  <a:pt x="534" y="130"/>
                  <a:pt x="521" y="218"/>
                  <a:pt x="518" y="256"/>
                </a:cubicBezTo>
                <a:cubicBezTo>
                  <a:pt x="477" y="294"/>
                  <a:pt x="464" y="335"/>
                  <a:pt x="464" y="376"/>
                </a:cubicBezTo>
                <a:cubicBezTo>
                  <a:pt x="427" y="364"/>
                  <a:pt x="382" y="364"/>
                  <a:pt x="332" y="392"/>
                </a:cubicBezTo>
                <a:cubicBezTo>
                  <a:pt x="297" y="379"/>
                  <a:pt x="212" y="367"/>
                  <a:pt x="139" y="439"/>
                </a:cubicBezTo>
                <a:cubicBezTo>
                  <a:pt x="107" y="468"/>
                  <a:pt x="95" y="493"/>
                  <a:pt x="85" y="512"/>
                </a:cubicBezTo>
                <a:cubicBezTo>
                  <a:pt x="73" y="534"/>
                  <a:pt x="70" y="547"/>
                  <a:pt x="22" y="566"/>
                </a:cubicBezTo>
                <a:cubicBezTo>
                  <a:pt x="13" y="569"/>
                  <a:pt x="6" y="575"/>
                  <a:pt x="3" y="582"/>
                </a:cubicBezTo>
                <a:lnTo>
                  <a:pt x="3" y="585"/>
                </a:lnTo>
                <a:lnTo>
                  <a:pt x="0" y="588"/>
                </a:lnTo>
                <a:lnTo>
                  <a:pt x="0" y="591"/>
                </a:lnTo>
                <a:lnTo>
                  <a:pt x="0" y="594"/>
                </a:lnTo>
                <a:cubicBezTo>
                  <a:pt x="0" y="601"/>
                  <a:pt x="3" y="607"/>
                  <a:pt x="6" y="613"/>
                </a:cubicBezTo>
                <a:cubicBezTo>
                  <a:pt x="35" y="654"/>
                  <a:pt x="32" y="667"/>
                  <a:pt x="25" y="692"/>
                </a:cubicBezTo>
                <a:cubicBezTo>
                  <a:pt x="22" y="714"/>
                  <a:pt x="19" y="743"/>
                  <a:pt x="25" y="784"/>
                </a:cubicBezTo>
                <a:cubicBezTo>
                  <a:pt x="41" y="885"/>
                  <a:pt x="120" y="923"/>
                  <a:pt x="155" y="936"/>
                </a:cubicBezTo>
                <a:cubicBezTo>
                  <a:pt x="180" y="989"/>
                  <a:pt x="215" y="1015"/>
                  <a:pt x="253" y="1027"/>
                </a:cubicBezTo>
                <a:cubicBezTo>
                  <a:pt x="231" y="1059"/>
                  <a:pt x="215" y="1100"/>
                  <a:pt x="227" y="1157"/>
                </a:cubicBezTo>
                <a:cubicBezTo>
                  <a:pt x="205" y="1189"/>
                  <a:pt x="164" y="1265"/>
                  <a:pt x="212" y="1356"/>
                </a:cubicBezTo>
                <a:cubicBezTo>
                  <a:pt x="231" y="1397"/>
                  <a:pt x="250" y="1416"/>
                  <a:pt x="265" y="1429"/>
                </a:cubicBezTo>
                <a:cubicBezTo>
                  <a:pt x="284" y="1448"/>
                  <a:pt x="294" y="1457"/>
                  <a:pt x="297" y="1508"/>
                </a:cubicBezTo>
                <a:cubicBezTo>
                  <a:pt x="297" y="1511"/>
                  <a:pt x="297" y="1517"/>
                  <a:pt x="300" y="1521"/>
                </a:cubicBezTo>
                <a:lnTo>
                  <a:pt x="303" y="1527"/>
                </a:lnTo>
                <a:cubicBezTo>
                  <a:pt x="310" y="1536"/>
                  <a:pt x="322" y="1540"/>
                  <a:pt x="335" y="1536"/>
                </a:cubicBezTo>
                <a:cubicBezTo>
                  <a:pt x="385" y="1524"/>
                  <a:pt x="398" y="1530"/>
                  <a:pt x="420" y="1543"/>
                </a:cubicBezTo>
                <a:cubicBezTo>
                  <a:pt x="439" y="1552"/>
                  <a:pt x="461" y="1565"/>
                  <a:pt x="506" y="1571"/>
                </a:cubicBezTo>
                <a:cubicBezTo>
                  <a:pt x="607" y="1587"/>
                  <a:pt x="667" y="1524"/>
                  <a:pt x="692" y="1495"/>
                </a:cubicBezTo>
                <a:cubicBezTo>
                  <a:pt x="749" y="1489"/>
                  <a:pt x="784" y="1461"/>
                  <a:pt x="809" y="1429"/>
                </a:cubicBezTo>
                <a:cubicBezTo>
                  <a:pt x="831" y="1461"/>
                  <a:pt x="866" y="1486"/>
                  <a:pt x="923" y="1492"/>
                </a:cubicBezTo>
                <a:cubicBezTo>
                  <a:pt x="945" y="1521"/>
                  <a:pt x="1008" y="1587"/>
                  <a:pt x="1109" y="1571"/>
                </a:cubicBezTo>
                <a:cubicBezTo>
                  <a:pt x="1150" y="1562"/>
                  <a:pt x="1175" y="1549"/>
                  <a:pt x="1194" y="1540"/>
                </a:cubicBezTo>
                <a:cubicBezTo>
                  <a:pt x="1216" y="1527"/>
                  <a:pt x="1229" y="1521"/>
                  <a:pt x="1276" y="1536"/>
                </a:cubicBezTo>
                <a:lnTo>
                  <a:pt x="1286" y="1536"/>
                </a:lnTo>
                <a:lnTo>
                  <a:pt x="1295" y="1536"/>
                </a:lnTo>
                <a:lnTo>
                  <a:pt x="1302" y="1533"/>
                </a:lnTo>
                <a:lnTo>
                  <a:pt x="1305" y="1530"/>
                </a:lnTo>
                <a:lnTo>
                  <a:pt x="1308" y="1530"/>
                </a:lnTo>
                <a:lnTo>
                  <a:pt x="1308" y="1527"/>
                </a:lnTo>
                <a:lnTo>
                  <a:pt x="1311" y="1524"/>
                </a:lnTo>
                <a:lnTo>
                  <a:pt x="1311" y="1521"/>
                </a:lnTo>
                <a:lnTo>
                  <a:pt x="1314" y="1521"/>
                </a:lnTo>
                <a:lnTo>
                  <a:pt x="1317" y="1514"/>
                </a:lnTo>
                <a:lnTo>
                  <a:pt x="1317" y="1508"/>
                </a:lnTo>
                <a:cubicBezTo>
                  <a:pt x="1321" y="1454"/>
                  <a:pt x="1330" y="1448"/>
                  <a:pt x="1349" y="1429"/>
                </a:cubicBezTo>
                <a:cubicBezTo>
                  <a:pt x="1362" y="1413"/>
                  <a:pt x="1384" y="1394"/>
                  <a:pt x="1403" y="1356"/>
                </a:cubicBezTo>
                <a:cubicBezTo>
                  <a:pt x="1450" y="1265"/>
                  <a:pt x="1409" y="1186"/>
                  <a:pt x="1387" y="1157"/>
                </a:cubicBezTo>
                <a:cubicBezTo>
                  <a:pt x="1400" y="1100"/>
                  <a:pt x="1384" y="1056"/>
                  <a:pt x="1362" y="1027"/>
                </a:cubicBezTo>
                <a:cubicBezTo>
                  <a:pt x="1400" y="1015"/>
                  <a:pt x="1434" y="986"/>
                  <a:pt x="1460" y="936"/>
                </a:cubicBezTo>
                <a:cubicBezTo>
                  <a:pt x="1494" y="923"/>
                  <a:pt x="1573" y="885"/>
                  <a:pt x="1589" y="784"/>
                </a:cubicBezTo>
                <a:cubicBezTo>
                  <a:pt x="1596" y="740"/>
                  <a:pt x="1589" y="714"/>
                  <a:pt x="1586" y="692"/>
                </a:cubicBezTo>
                <a:cubicBezTo>
                  <a:pt x="1583" y="667"/>
                  <a:pt x="1580" y="654"/>
                  <a:pt x="1608" y="613"/>
                </a:cubicBezTo>
                <a:lnTo>
                  <a:pt x="1611" y="607"/>
                </a:lnTo>
                <a:cubicBezTo>
                  <a:pt x="1611" y="601"/>
                  <a:pt x="1614" y="598"/>
                  <a:pt x="1614" y="594"/>
                </a:cubicBezTo>
                <a:lnTo>
                  <a:pt x="1614" y="591"/>
                </a:lnTo>
                <a:close/>
                <a:moveTo>
                  <a:pt x="572" y="294"/>
                </a:moveTo>
                <a:cubicBezTo>
                  <a:pt x="581" y="288"/>
                  <a:pt x="585" y="278"/>
                  <a:pt x="585" y="266"/>
                </a:cubicBezTo>
                <a:cubicBezTo>
                  <a:pt x="585" y="262"/>
                  <a:pt x="575" y="180"/>
                  <a:pt x="654" y="142"/>
                </a:cubicBezTo>
                <a:cubicBezTo>
                  <a:pt x="682" y="126"/>
                  <a:pt x="701" y="123"/>
                  <a:pt x="720" y="120"/>
                </a:cubicBezTo>
                <a:cubicBezTo>
                  <a:pt x="752" y="117"/>
                  <a:pt x="774" y="111"/>
                  <a:pt x="806" y="79"/>
                </a:cubicBezTo>
                <a:cubicBezTo>
                  <a:pt x="837" y="111"/>
                  <a:pt x="863" y="117"/>
                  <a:pt x="894" y="120"/>
                </a:cubicBezTo>
                <a:cubicBezTo>
                  <a:pt x="910" y="123"/>
                  <a:pt x="929" y="126"/>
                  <a:pt x="960" y="142"/>
                </a:cubicBezTo>
                <a:cubicBezTo>
                  <a:pt x="1036" y="180"/>
                  <a:pt x="1030" y="262"/>
                  <a:pt x="1030" y="266"/>
                </a:cubicBezTo>
                <a:cubicBezTo>
                  <a:pt x="1027" y="278"/>
                  <a:pt x="1033" y="288"/>
                  <a:pt x="1039" y="294"/>
                </a:cubicBezTo>
                <a:cubicBezTo>
                  <a:pt x="1099" y="341"/>
                  <a:pt x="1087" y="392"/>
                  <a:pt x="1077" y="417"/>
                </a:cubicBezTo>
                <a:cubicBezTo>
                  <a:pt x="998" y="367"/>
                  <a:pt x="904" y="338"/>
                  <a:pt x="806" y="338"/>
                </a:cubicBezTo>
                <a:cubicBezTo>
                  <a:pt x="705" y="338"/>
                  <a:pt x="613" y="367"/>
                  <a:pt x="534" y="417"/>
                </a:cubicBezTo>
                <a:cubicBezTo>
                  <a:pt x="524" y="389"/>
                  <a:pt x="515" y="338"/>
                  <a:pt x="572" y="294"/>
                </a:cubicBezTo>
                <a:close/>
                <a:moveTo>
                  <a:pt x="209" y="901"/>
                </a:moveTo>
                <a:cubicBezTo>
                  <a:pt x="205" y="888"/>
                  <a:pt x="196" y="882"/>
                  <a:pt x="186" y="879"/>
                </a:cubicBezTo>
                <a:cubicBezTo>
                  <a:pt x="183" y="879"/>
                  <a:pt x="101" y="860"/>
                  <a:pt x="88" y="774"/>
                </a:cubicBezTo>
                <a:cubicBezTo>
                  <a:pt x="82" y="743"/>
                  <a:pt x="85" y="724"/>
                  <a:pt x="88" y="705"/>
                </a:cubicBezTo>
                <a:cubicBezTo>
                  <a:pt x="95" y="673"/>
                  <a:pt x="95" y="648"/>
                  <a:pt x="76" y="610"/>
                </a:cubicBezTo>
                <a:cubicBezTo>
                  <a:pt x="117" y="588"/>
                  <a:pt x="130" y="569"/>
                  <a:pt x="142" y="541"/>
                </a:cubicBezTo>
                <a:cubicBezTo>
                  <a:pt x="152" y="525"/>
                  <a:pt x="158" y="506"/>
                  <a:pt x="183" y="484"/>
                </a:cubicBezTo>
                <a:cubicBezTo>
                  <a:pt x="243" y="424"/>
                  <a:pt x="319" y="455"/>
                  <a:pt x="322" y="455"/>
                </a:cubicBezTo>
                <a:cubicBezTo>
                  <a:pt x="335" y="458"/>
                  <a:pt x="344" y="458"/>
                  <a:pt x="354" y="452"/>
                </a:cubicBezTo>
                <a:cubicBezTo>
                  <a:pt x="414" y="414"/>
                  <a:pt x="458" y="436"/>
                  <a:pt x="480" y="455"/>
                </a:cubicBezTo>
                <a:cubicBezTo>
                  <a:pt x="367" y="550"/>
                  <a:pt x="294" y="689"/>
                  <a:pt x="294" y="847"/>
                </a:cubicBezTo>
                <a:cubicBezTo>
                  <a:pt x="294" y="891"/>
                  <a:pt x="300" y="933"/>
                  <a:pt x="310" y="971"/>
                </a:cubicBezTo>
                <a:cubicBezTo>
                  <a:pt x="281" y="974"/>
                  <a:pt x="234" y="964"/>
                  <a:pt x="209" y="901"/>
                </a:cubicBezTo>
                <a:close/>
                <a:moveTo>
                  <a:pt x="673" y="1432"/>
                </a:moveTo>
                <a:cubicBezTo>
                  <a:pt x="660" y="1432"/>
                  <a:pt x="651" y="1438"/>
                  <a:pt x="645" y="1448"/>
                </a:cubicBezTo>
                <a:cubicBezTo>
                  <a:pt x="645" y="1451"/>
                  <a:pt x="600" y="1521"/>
                  <a:pt x="515" y="1508"/>
                </a:cubicBezTo>
                <a:cubicBezTo>
                  <a:pt x="483" y="1505"/>
                  <a:pt x="464" y="1495"/>
                  <a:pt x="449" y="1486"/>
                </a:cubicBezTo>
                <a:cubicBezTo>
                  <a:pt x="420" y="1470"/>
                  <a:pt x="398" y="1461"/>
                  <a:pt x="354" y="1467"/>
                </a:cubicBezTo>
                <a:cubicBezTo>
                  <a:pt x="348" y="1426"/>
                  <a:pt x="332" y="1407"/>
                  <a:pt x="310" y="1385"/>
                </a:cubicBezTo>
                <a:cubicBezTo>
                  <a:pt x="297" y="1372"/>
                  <a:pt x="281" y="1356"/>
                  <a:pt x="269" y="1328"/>
                </a:cubicBezTo>
                <a:cubicBezTo>
                  <a:pt x="227" y="1252"/>
                  <a:pt x="281" y="1189"/>
                  <a:pt x="284" y="1186"/>
                </a:cubicBezTo>
                <a:cubicBezTo>
                  <a:pt x="291" y="1176"/>
                  <a:pt x="294" y="1167"/>
                  <a:pt x="291" y="1157"/>
                </a:cubicBezTo>
                <a:cubicBezTo>
                  <a:pt x="272" y="1087"/>
                  <a:pt x="306" y="1053"/>
                  <a:pt x="332" y="1037"/>
                </a:cubicBezTo>
                <a:cubicBezTo>
                  <a:pt x="404" y="1217"/>
                  <a:pt x="572" y="1344"/>
                  <a:pt x="771" y="1356"/>
                </a:cubicBezTo>
                <a:cubicBezTo>
                  <a:pt x="765" y="1385"/>
                  <a:pt x="742" y="1429"/>
                  <a:pt x="673" y="1432"/>
                </a:cubicBezTo>
                <a:close/>
                <a:moveTo>
                  <a:pt x="806" y="1299"/>
                </a:moveTo>
                <a:cubicBezTo>
                  <a:pt x="556" y="1299"/>
                  <a:pt x="354" y="1097"/>
                  <a:pt x="354" y="847"/>
                </a:cubicBezTo>
                <a:cubicBezTo>
                  <a:pt x="354" y="598"/>
                  <a:pt x="556" y="395"/>
                  <a:pt x="806" y="395"/>
                </a:cubicBezTo>
                <a:cubicBezTo>
                  <a:pt x="1055" y="395"/>
                  <a:pt x="1257" y="598"/>
                  <a:pt x="1257" y="847"/>
                </a:cubicBezTo>
                <a:cubicBezTo>
                  <a:pt x="1257" y="1097"/>
                  <a:pt x="1055" y="1299"/>
                  <a:pt x="806" y="1299"/>
                </a:cubicBezTo>
                <a:close/>
                <a:moveTo>
                  <a:pt x="1346" y="1328"/>
                </a:moveTo>
                <a:cubicBezTo>
                  <a:pt x="1330" y="1356"/>
                  <a:pt x="1317" y="1369"/>
                  <a:pt x="1305" y="1381"/>
                </a:cubicBezTo>
                <a:cubicBezTo>
                  <a:pt x="1283" y="1404"/>
                  <a:pt x="1267" y="1423"/>
                  <a:pt x="1257" y="1467"/>
                </a:cubicBezTo>
                <a:cubicBezTo>
                  <a:pt x="1216" y="1461"/>
                  <a:pt x="1191" y="1470"/>
                  <a:pt x="1166" y="1486"/>
                </a:cubicBezTo>
                <a:cubicBezTo>
                  <a:pt x="1147" y="1492"/>
                  <a:pt x="1131" y="1502"/>
                  <a:pt x="1096" y="1508"/>
                </a:cubicBezTo>
                <a:cubicBezTo>
                  <a:pt x="1014" y="1521"/>
                  <a:pt x="970" y="1448"/>
                  <a:pt x="967" y="1448"/>
                </a:cubicBezTo>
                <a:cubicBezTo>
                  <a:pt x="964" y="1438"/>
                  <a:pt x="954" y="1432"/>
                  <a:pt x="942" y="1432"/>
                </a:cubicBezTo>
                <a:cubicBezTo>
                  <a:pt x="872" y="1429"/>
                  <a:pt x="850" y="1385"/>
                  <a:pt x="844" y="1356"/>
                </a:cubicBezTo>
                <a:cubicBezTo>
                  <a:pt x="1043" y="1344"/>
                  <a:pt x="1210" y="1214"/>
                  <a:pt x="1280" y="1034"/>
                </a:cubicBezTo>
                <a:cubicBezTo>
                  <a:pt x="1302" y="1050"/>
                  <a:pt x="1343" y="1084"/>
                  <a:pt x="1321" y="1154"/>
                </a:cubicBezTo>
                <a:cubicBezTo>
                  <a:pt x="1317" y="1167"/>
                  <a:pt x="1321" y="1176"/>
                  <a:pt x="1330" y="1186"/>
                </a:cubicBezTo>
                <a:cubicBezTo>
                  <a:pt x="1330" y="1186"/>
                  <a:pt x="1384" y="1252"/>
                  <a:pt x="1346" y="1328"/>
                </a:cubicBezTo>
                <a:close/>
                <a:moveTo>
                  <a:pt x="1523" y="705"/>
                </a:moveTo>
                <a:cubicBezTo>
                  <a:pt x="1529" y="721"/>
                  <a:pt x="1532" y="740"/>
                  <a:pt x="1526" y="774"/>
                </a:cubicBezTo>
                <a:cubicBezTo>
                  <a:pt x="1513" y="857"/>
                  <a:pt x="1431" y="879"/>
                  <a:pt x="1428" y="879"/>
                </a:cubicBezTo>
                <a:cubicBezTo>
                  <a:pt x="1419" y="882"/>
                  <a:pt x="1409" y="888"/>
                  <a:pt x="1406" y="898"/>
                </a:cubicBezTo>
                <a:cubicBezTo>
                  <a:pt x="1381" y="967"/>
                  <a:pt x="1327" y="974"/>
                  <a:pt x="1299" y="971"/>
                </a:cubicBezTo>
                <a:cubicBezTo>
                  <a:pt x="1308" y="933"/>
                  <a:pt x="1314" y="891"/>
                  <a:pt x="1314" y="847"/>
                </a:cubicBezTo>
                <a:cubicBezTo>
                  <a:pt x="1314" y="692"/>
                  <a:pt x="1242" y="550"/>
                  <a:pt x="1131" y="455"/>
                </a:cubicBezTo>
                <a:cubicBezTo>
                  <a:pt x="1150" y="439"/>
                  <a:pt x="1197" y="411"/>
                  <a:pt x="1261" y="452"/>
                </a:cubicBezTo>
                <a:cubicBezTo>
                  <a:pt x="1270" y="458"/>
                  <a:pt x="1280" y="458"/>
                  <a:pt x="1289" y="455"/>
                </a:cubicBezTo>
                <a:cubicBezTo>
                  <a:pt x="1292" y="452"/>
                  <a:pt x="1371" y="420"/>
                  <a:pt x="1431" y="481"/>
                </a:cubicBezTo>
                <a:cubicBezTo>
                  <a:pt x="1453" y="506"/>
                  <a:pt x="1463" y="522"/>
                  <a:pt x="1472" y="541"/>
                </a:cubicBezTo>
                <a:cubicBezTo>
                  <a:pt x="1485" y="566"/>
                  <a:pt x="1498" y="588"/>
                  <a:pt x="1535" y="610"/>
                </a:cubicBezTo>
                <a:cubicBezTo>
                  <a:pt x="1517" y="648"/>
                  <a:pt x="1520" y="673"/>
                  <a:pt x="1523" y="705"/>
                </a:cubicBezTo>
                <a:close/>
                <a:moveTo>
                  <a:pt x="986" y="1201"/>
                </a:moveTo>
                <a:lnTo>
                  <a:pt x="629" y="1201"/>
                </a:lnTo>
                <a:cubicBezTo>
                  <a:pt x="619" y="1201"/>
                  <a:pt x="616" y="1208"/>
                  <a:pt x="616" y="1214"/>
                </a:cubicBezTo>
                <a:lnTo>
                  <a:pt x="616" y="1227"/>
                </a:lnTo>
                <a:cubicBezTo>
                  <a:pt x="616" y="1233"/>
                  <a:pt x="619" y="1239"/>
                  <a:pt x="629" y="1239"/>
                </a:cubicBezTo>
                <a:lnTo>
                  <a:pt x="986" y="1239"/>
                </a:lnTo>
                <a:cubicBezTo>
                  <a:pt x="992" y="1239"/>
                  <a:pt x="998" y="1233"/>
                  <a:pt x="998" y="1227"/>
                </a:cubicBezTo>
                <a:lnTo>
                  <a:pt x="998" y="1214"/>
                </a:lnTo>
                <a:cubicBezTo>
                  <a:pt x="998" y="1208"/>
                  <a:pt x="992" y="1201"/>
                  <a:pt x="986" y="1201"/>
                </a:cubicBezTo>
                <a:close/>
                <a:moveTo>
                  <a:pt x="660" y="1097"/>
                </a:moveTo>
                <a:lnTo>
                  <a:pt x="951" y="1097"/>
                </a:lnTo>
                <a:cubicBezTo>
                  <a:pt x="957" y="1097"/>
                  <a:pt x="964" y="1091"/>
                  <a:pt x="964" y="1084"/>
                </a:cubicBezTo>
                <a:lnTo>
                  <a:pt x="964" y="1072"/>
                </a:lnTo>
                <a:cubicBezTo>
                  <a:pt x="964" y="1062"/>
                  <a:pt x="957" y="1059"/>
                  <a:pt x="951" y="1059"/>
                </a:cubicBezTo>
                <a:lnTo>
                  <a:pt x="660" y="1059"/>
                </a:lnTo>
                <a:cubicBezTo>
                  <a:pt x="654" y="1059"/>
                  <a:pt x="651" y="1062"/>
                  <a:pt x="651" y="1072"/>
                </a:cubicBezTo>
                <a:lnTo>
                  <a:pt x="651" y="1084"/>
                </a:lnTo>
                <a:cubicBezTo>
                  <a:pt x="651" y="1091"/>
                  <a:pt x="654" y="1097"/>
                  <a:pt x="660" y="1097"/>
                </a:cubicBezTo>
                <a:close/>
                <a:moveTo>
                  <a:pt x="667" y="582"/>
                </a:moveTo>
                <a:lnTo>
                  <a:pt x="705" y="569"/>
                </a:lnTo>
                <a:lnTo>
                  <a:pt x="739" y="594"/>
                </a:lnTo>
                <a:lnTo>
                  <a:pt x="736" y="553"/>
                </a:lnTo>
                <a:lnTo>
                  <a:pt x="771" y="528"/>
                </a:lnTo>
                <a:lnTo>
                  <a:pt x="730" y="515"/>
                </a:lnTo>
                <a:lnTo>
                  <a:pt x="717" y="477"/>
                </a:lnTo>
                <a:lnTo>
                  <a:pt x="695" y="512"/>
                </a:lnTo>
                <a:lnTo>
                  <a:pt x="654" y="512"/>
                </a:lnTo>
                <a:lnTo>
                  <a:pt x="679" y="544"/>
                </a:lnTo>
                <a:lnTo>
                  <a:pt x="667" y="582"/>
                </a:lnTo>
                <a:close/>
                <a:moveTo>
                  <a:pt x="566" y="632"/>
                </a:moveTo>
                <a:lnTo>
                  <a:pt x="553" y="591"/>
                </a:lnTo>
                <a:lnTo>
                  <a:pt x="531" y="626"/>
                </a:lnTo>
                <a:lnTo>
                  <a:pt x="490" y="626"/>
                </a:lnTo>
                <a:lnTo>
                  <a:pt x="515" y="661"/>
                </a:lnTo>
                <a:lnTo>
                  <a:pt x="502" y="699"/>
                </a:lnTo>
                <a:lnTo>
                  <a:pt x="540" y="686"/>
                </a:lnTo>
                <a:lnTo>
                  <a:pt x="572" y="708"/>
                </a:lnTo>
                <a:lnTo>
                  <a:pt x="572" y="667"/>
                </a:lnTo>
                <a:lnTo>
                  <a:pt x="607" y="645"/>
                </a:lnTo>
                <a:lnTo>
                  <a:pt x="566" y="632"/>
                </a:lnTo>
                <a:close/>
                <a:moveTo>
                  <a:pt x="506" y="812"/>
                </a:moveTo>
                <a:lnTo>
                  <a:pt x="493" y="774"/>
                </a:lnTo>
                <a:lnTo>
                  <a:pt x="468" y="806"/>
                </a:lnTo>
                <a:lnTo>
                  <a:pt x="427" y="806"/>
                </a:lnTo>
                <a:lnTo>
                  <a:pt x="452" y="841"/>
                </a:lnTo>
                <a:lnTo>
                  <a:pt x="439" y="879"/>
                </a:lnTo>
                <a:lnTo>
                  <a:pt x="477" y="866"/>
                </a:lnTo>
                <a:lnTo>
                  <a:pt x="512" y="891"/>
                </a:lnTo>
                <a:lnTo>
                  <a:pt x="512" y="850"/>
                </a:lnTo>
                <a:lnTo>
                  <a:pt x="543" y="825"/>
                </a:lnTo>
                <a:lnTo>
                  <a:pt x="506" y="812"/>
                </a:lnTo>
                <a:lnTo>
                  <a:pt x="506" y="81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Freeform 42">
            <a:extLst>
              <a:ext uri="{FF2B5EF4-FFF2-40B4-BE49-F238E27FC236}">
                <a16:creationId xmlns:a16="http://schemas.microsoft.com/office/drawing/2014/main" id="{EBFA3B00-95C0-4BE2-BE6A-9F8FD6AE1F1E}"/>
              </a:ext>
            </a:extLst>
          </p:cNvPr>
          <p:cNvSpPr>
            <a:spLocks noEditPoints="1"/>
          </p:cNvSpPr>
          <p:nvPr/>
        </p:nvSpPr>
        <p:spPr bwMode="auto">
          <a:xfrm>
            <a:off x="5428238" y="1525698"/>
            <a:ext cx="1335524" cy="424355"/>
          </a:xfrm>
          <a:custGeom>
            <a:avLst/>
            <a:gdLst>
              <a:gd name="T0" fmla="*/ 392 w 3918"/>
              <a:gd name="T1" fmla="*/ 22 h 1245"/>
              <a:gd name="T2" fmla="*/ 0 w 3918"/>
              <a:gd name="T3" fmla="*/ 22 h 1245"/>
              <a:gd name="T4" fmla="*/ 79 w 3918"/>
              <a:gd name="T5" fmla="*/ 158 h 1245"/>
              <a:gd name="T6" fmla="*/ 79 w 3918"/>
              <a:gd name="T7" fmla="*/ 1220 h 1245"/>
              <a:gd name="T8" fmla="*/ 392 w 3918"/>
              <a:gd name="T9" fmla="*/ 1220 h 1245"/>
              <a:gd name="T10" fmla="*/ 392 w 3918"/>
              <a:gd name="T11" fmla="*/ 22 h 1245"/>
              <a:gd name="T12" fmla="*/ 404 w 3918"/>
              <a:gd name="T13" fmla="*/ 515 h 1245"/>
              <a:gd name="T14" fmla="*/ 938 w 3918"/>
              <a:gd name="T15" fmla="*/ 1230 h 1245"/>
              <a:gd name="T16" fmla="*/ 1305 w 3918"/>
              <a:gd name="T17" fmla="*/ 1230 h 1245"/>
              <a:gd name="T18" fmla="*/ 742 w 3918"/>
              <a:gd name="T19" fmla="*/ 515 h 1245"/>
              <a:gd name="T20" fmla="*/ 1279 w 3918"/>
              <a:gd name="T21" fmla="*/ 19 h 1245"/>
              <a:gd name="T22" fmla="*/ 964 w 3918"/>
              <a:gd name="T23" fmla="*/ 19 h 1245"/>
              <a:gd name="T24" fmla="*/ 407 w 3918"/>
              <a:gd name="T25" fmla="*/ 512 h 1245"/>
              <a:gd name="T26" fmla="*/ 404 w 3918"/>
              <a:gd name="T27" fmla="*/ 515 h 1245"/>
              <a:gd name="T28" fmla="*/ 3918 w 3918"/>
              <a:gd name="T29" fmla="*/ 1223 h 1245"/>
              <a:gd name="T30" fmla="*/ 3918 w 3918"/>
              <a:gd name="T31" fmla="*/ 19 h 1245"/>
              <a:gd name="T32" fmla="*/ 3605 w 3918"/>
              <a:gd name="T33" fmla="*/ 19 h 1245"/>
              <a:gd name="T34" fmla="*/ 3605 w 3918"/>
              <a:gd name="T35" fmla="*/ 1027 h 1245"/>
              <a:gd name="T36" fmla="*/ 3238 w 3918"/>
              <a:gd name="T37" fmla="*/ 1027 h 1245"/>
              <a:gd name="T38" fmla="*/ 3134 w 3918"/>
              <a:gd name="T39" fmla="*/ 901 h 1245"/>
              <a:gd name="T40" fmla="*/ 3134 w 3918"/>
              <a:gd name="T41" fmla="*/ 22 h 1245"/>
              <a:gd name="T42" fmla="*/ 2745 w 3918"/>
              <a:gd name="T43" fmla="*/ 22 h 1245"/>
              <a:gd name="T44" fmla="*/ 2828 w 3918"/>
              <a:gd name="T45" fmla="*/ 155 h 1245"/>
              <a:gd name="T46" fmla="*/ 2828 w 3918"/>
              <a:gd name="T47" fmla="*/ 853 h 1245"/>
              <a:gd name="T48" fmla="*/ 3156 w 3918"/>
              <a:gd name="T49" fmla="*/ 1223 h 1245"/>
              <a:gd name="T50" fmla="*/ 3918 w 3918"/>
              <a:gd name="T51" fmla="*/ 1223 h 1245"/>
              <a:gd name="T52" fmla="*/ 2221 w 3918"/>
              <a:gd name="T53" fmla="*/ 1223 h 1245"/>
              <a:gd name="T54" fmla="*/ 2537 w 3918"/>
              <a:gd name="T55" fmla="*/ 1223 h 1245"/>
              <a:gd name="T56" fmla="*/ 2537 w 3918"/>
              <a:gd name="T57" fmla="*/ 389 h 1245"/>
              <a:gd name="T58" fmla="*/ 2205 w 3918"/>
              <a:gd name="T59" fmla="*/ 19 h 1245"/>
              <a:gd name="T60" fmla="*/ 1362 w 3918"/>
              <a:gd name="T61" fmla="*/ 19 h 1245"/>
              <a:gd name="T62" fmla="*/ 1437 w 3918"/>
              <a:gd name="T63" fmla="*/ 152 h 1245"/>
              <a:gd name="T64" fmla="*/ 1437 w 3918"/>
              <a:gd name="T65" fmla="*/ 1223 h 1245"/>
              <a:gd name="T66" fmla="*/ 1750 w 3918"/>
              <a:gd name="T67" fmla="*/ 1223 h 1245"/>
              <a:gd name="T68" fmla="*/ 1750 w 3918"/>
              <a:gd name="T69" fmla="*/ 215 h 1245"/>
              <a:gd name="T70" fmla="*/ 2117 w 3918"/>
              <a:gd name="T71" fmla="*/ 215 h 1245"/>
              <a:gd name="T72" fmla="*/ 2221 w 3918"/>
              <a:gd name="T73" fmla="*/ 341 h 1245"/>
              <a:gd name="T74" fmla="*/ 2221 w 3918"/>
              <a:gd name="T75" fmla="*/ 1223 h 1245"/>
              <a:gd name="T76" fmla="*/ 2221 w 3918"/>
              <a:gd name="T77" fmla="*/ 1223 h 1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18" h="1245">
                <a:moveTo>
                  <a:pt x="392" y="22"/>
                </a:moveTo>
                <a:lnTo>
                  <a:pt x="0" y="22"/>
                </a:lnTo>
                <a:cubicBezTo>
                  <a:pt x="0" y="22"/>
                  <a:pt x="79" y="38"/>
                  <a:pt x="79" y="158"/>
                </a:cubicBezTo>
                <a:lnTo>
                  <a:pt x="79" y="1220"/>
                </a:lnTo>
                <a:lnTo>
                  <a:pt x="392" y="1220"/>
                </a:lnTo>
                <a:lnTo>
                  <a:pt x="392" y="22"/>
                </a:lnTo>
                <a:close/>
                <a:moveTo>
                  <a:pt x="404" y="515"/>
                </a:moveTo>
                <a:lnTo>
                  <a:pt x="938" y="1230"/>
                </a:lnTo>
                <a:lnTo>
                  <a:pt x="1305" y="1230"/>
                </a:lnTo>
                <a:lnTo>
                  <a:pt x="742" y="515"/>
                </a:lnTo>
                <a:lnTo>
                  <a:pt x="1279" y="19"/>
                </a:lnTo>
                <a:lnTo>
                  <a:pt x="964" y="19"/>
                </a:lnTo>
                <a:lnTo>
                  <a:pt x="407" y="512"/>
                </a:lnTo>
                <a:lnTo>
                  <a:pt x="404" y="515"/>
                </a:lnTo>
                <a:close/>
                <a:moveTo>
                  <a:pt x="3918" y="1223"/>
                </a:moveTo>
                <a:lnTo>
                  <a:pt x="3918" y="19"/>
                </a:lnTo>
                <a:lnTo>
                  <a:pt x="3605" y="19"/>
                </a:lnTo>
                <a:lnTo>
                  <a:pt x="3605" y="1027"/>
                </a:lnTo>
                <a:lnTo>
                  <a:pt x="3238" y="1027"/>
                </a:lnTo>
                <a:cubicBezTo>
                  <a:pt x="3204" y="1027"/>
                  <a:pt x="3134" y="999"/>
                  <a:pt x="3134" y="901"/>
                </a:cubicBezTo>
                <a:lnTo>
                  <a:pt x="3134" y="22"/>
                </a:lnTo>
                <a:lnTo>
                  <a:pt x="2745" y="22"/>
                </a:lnTo>
                <a:cubicBezTo>
                  <a:pt x="2745" y="22"/>
                  <a:pt x="2828" y="38"/>
                  <a:pt x="2828" y="155"/>
                </a:cubicBezTo>
                <a:lnTo>
                  <a:pt x="2828" y="853"/>
                </a:lnTo>
                <a:cubicBezTo>
                  <a:pt x="2828" y="1245"/>
                  <a:pt x="3156" y="1223"/>
                  <a:pt x="3156" y="1223"/>
                </a:cubicBezTo>
                <a:lnTo>
                  <a:pt x="3918" y="1223"/>
                </a:lnTo>
                <a:close/>
                <a:moveTo>
                  <a:pt x="2221" y="1223"/>
                </a:moveTo>
                <a:lnTo>
                  <a:pt x="2537" y="1223"/>
                </a:lnTo>
                <a:lnTo>
                  <a:pt x="2537" y="389"/>
                </a:lnTo>
                <a:cubicBezTo>
                  <a:pt x="2537" y="0"/>
                  <a:pt x="2237" y="19"/>
                  <a:pt x="2205" y="19"/>
                </a:cubicBezTo>
                <a:lnTo>
                  <a:pt x="1362" y="19"/>
                </a:lnTo>
                <a:cubicBezTo>
                  <a:pt x="1362" y="19"/>
                  <a:pt x="1437" y="47"/>
                  <a:pt x="1437" y="152"/>
                </a:cubicBezTo>
                <a:lnTo>
                  <a:pt x="1437" y="1223"/>
                </a:lnTo>
                <a:lnTo>
                  <a:pt x="1750" y="1223"/>
                </a:lnTo>
                <a:lnTo>
                  <a:pt x="1750" y="215"/>
                </a:lnTo>
                <a:lnTo>
                  <a:pt x="2117" y="215"/>
                </a:lnTo>
                <a:cubicBezTo>
                  <a:pt x="2152" y="215"/>
                  <a:pt x="2221" y="243"/>
                  <a:pt x="2221" y="341"/>
                </a:cubicBezTo>
                <a:lnTo>
                  <a:pt x="2221" y="1223"/>
                </a:lnTo>
                <a:lnTo>
                  <a:pt x="2221" y="1223"/>
                </a:lnTo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CAB64-D8DD-4114-9636-E08294FEC852}"/>
              </a:ext>
            </a:extLst>
          </p:cNvPr>
          <p:cNvSpPr txBox="1"/>
          <p:nvPr/>
        </p:nvSpPr>
        <p:spPr>
          <a:xfrm>
            <a:off x="996950" y="3128813"/>
            <a:ext cx="1019809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ko-KR" altLang="en-US" sz="4800" b="1" dirty="0">
                <a:latin typeface="한컴 고딕" panose="02000500000000000000" pitchFamily="2" charset="-127"/>
                <a:ea typeface="한컴 고딕"/>
                <a:cs typeface="Arial"/>
              </a:rPr>
              <a:t>종합설계프로젝트 10조 수행계획</a:t>
            </a:r>
            <a:endParaRPr lang="ko-KR" altLang="en-US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15CCB6-6D9A-4414-AC1F-3C26B480A3CA}"/>
              </a:ext>
            </a:extLst>
          </p:cNvPr>
          <p:cNvSpPr txBox="1"/>
          <p:nvPr/>
        </p:nvSpPr>
        <p:spPr>
          <a:xfrm>
            <a:off x="820585" y="3902540"/>
            <a:ext cx="10550829" cy="18774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ctr">
              <a:defRPr/>
            </a:pPr>
            <a:r>
              <a:rPr lang="en-US" altLang="ko-KR" sz="2400" dirty="0"/>
              <a:t>OpenStack </a:t>
            </a:r>
            <a:r>
              <a:rPr lang="ko-KR" altLang="en-US" sz="2400" dirty="0"/>
              <a:t>기반 이기종 </a:t>
            </a:r>
            <a:r>
              <a:rPr lang="en-US" altLang="ko-KR" sz="2400" dirty="0"/>
              <a:t>GPU </a:t>
            </a:r>
            <a:r>
              <a:rPr lang="ko-KR" altLang="en-US" sz="2400" dirty="0"/>
              <a:t>클라우드 인프라 구축</a:t>
            </a:r>
            <a:endParaRPr lang="en-US" altLang="ko-KR" sz="2400" dirty="0"/>
          </a:p>
          <a:p>
            <a:pPr lvl="0" algn="ctr">
              <a:defRPr/>
            </a:pPr>
            <a:endParaRPr lang="en-US" altLang="ko-KR" sz="2400" dirty="0">
              <a:latin typeface="한컴 고딕" panose="02000500000000000000" pitchFamily="2" charset="-127"/>
              <a:ea typeface="한컴 고딕"/>
              <a:cs typeface="Arial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>
                <a:latin typeface="한컴 고딕" panose="02000500000000000000" pitchFamily="2" charset="-127"/>
                <a:ea typeface="한컴 고딕"/>
                <a:cs typeface="Arial"/>
              </a:rPr>
              <a:t>2026-03-18</a:t>
            </a: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한컴 고딕" panose="02000500000000000000" pitchFamily="2" charset="-127"/>
                <a:ea typeface="한컴 고딕"/>
                <a:cs typeface="Arial"/>
              </a:rPr>
              <a:t>배지민</a:t>
            </a:r>
            <a:r>
              <a:rPr lang="ko-KR" altLang="en-US" sz="2000" dirty="0">
                <a:latin typeface="한컴 고딕" panose="02000500000000000000" pitchFamily="2" charset="-127"/>
                <a:ea typeface="한컴 고딕"/>
                <a:cs typeface="Arial"/>
              </a:rPr>
              <a:t>, 김형우, 배지훈, </a:t>
            </a:r>
            <a:r>
              <a:rPr lang="ko-KR" altLang="en-US" sz="2000" dirty="0" err="1">
                <a:latin typeface="한컴 고딕" panose="02000500000000000000" pitchFamily="2" charset="-127"/>
                <a:ea typeface="한컴 고딕"/>
                <a:cs typeface="Arial"/>
              </a:rPr>
              <a:t>황현태</a:t>
            </a:r>
            <a:endParaRPr lang="ko-KR" alt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04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목차</a:t>
            </a:r>
            <a:endParaRPr lang="ko-KR" altLang="en-US" dirty="0">
              <a:latin typeface="LilyUPC"/>
              <a:ea typeface="한컴 고딕"/>
              <a:cs typeface="LilyUPC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  <a:defRPr/>
            </a:pPr>
            <a:r>
              <a:rPr lang="ko-KR" altLang="en-US" dirty="0">
                <a:latin typeface="한컴 고딕"/>
                <a:ea typeface="한컴 고딕"/>
              </a:rPr>
              <a:t>프로젝트 추진 배경</a:t>
            </a:r>
          </a:p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endParaRPr lang="en-US" altLang="ko-KR" dirty="0">
              <a:latin typeface="한컴 고딕"/>
              <a:ea typeface="한컴 고딕"/>
            </a:endParaRPr>
          </a:p>
          <a:p>
            <a:pPr marL="0" indent="0">
              <a:buNone/>
              <a:defRPr/>
            </a:pPr>
            <a:r>
              <a:rPr lang="en-US" altLang="ko-KR" dirty="0">
                <a:latin typeface="한컴 고딕"/>
                <a:ea typeface="한컴 고딕"/>
              </a:rPr>
              <a:t>2.  </a:t>
            </a:r>
            <a:r>
              <a:rPr lang="en-US" altLang="ko-KR" dirty="0" err="1">
                <a:latin typeface="한컴 고딕"/>
                <a:ea typeface="한컴 고딕"/>
              </a:rPr>
              <a:t>과제</a:t>
            </a:r>
            <a:r>
              <a:rPr lang="en-US" altLang="ko-KR" dirty="0">
                <a:latin typeface="한컴 고딕"/>
                <a:ea typeface="한컴 고딕"/>
              </a:rPr>
              <a:t> </a:t>
            </a:r>
            <a:r>
              <a:rPr lang="en-US" altLang="ko-KR" dirty="0" err="1">
                <a:latin typeface="한컴 고딕"/>
                <a:ea typeface="한컴 고딕"/>
              </a:rPr>
              <a:t>내용</a:t>
            </a:r>
            <a:endParaRPr lang="en-US" altLang="ko-KR" dirty="0">
              <a:latin typeface="한컴 고딕"/>
              <a:ea typeface="한컴 고딕"/>
            </a:endParaRPr>
          </a:p>
          <a:p>
            <a:pPr marL="0" indent="0">
              <a:buNone/>
              <a:defRPr/>
            </a:pPr>
            <a:endParaRPr lang="en-US" altLang="ko-KR" dirty="0">
              <a:latin typeface="한컴 고딕"/>
              <a:ea typeface="한컴 고딕"/>
            </a:endParaRPr>
          </a:p>
          <a:p>
            <a:pPr marL="0" indent="0">
              <a:buNone/>
              <a:defRPr/>
            </a:pPr>
            <a:r>
              <a:rPr lang="en-US" altLang="ko-KR" dirty="0">
                <a:latin typeface="한컴 고딕"/>
                <a:ea typeface="한컴 고딕"/>
              </a:rPr>
              <a:t>3.  </a:t>
            </a:r>
            <a:r>
              <a:rPr lang="en-US" altLang="ko-KR" dirty="0" err="1">
                <a:latin typeface="한컴 고딕"/>
                <a:ea typeface="한컴 고딕"/>
              </a:rPr>
              <a:t>활용</a:t>
            </a:r>
            <a:r>
              <a:rPr lang="en-US" altLang="ko-KR" dirty="0">
                <a:latin typeface="한컴 고딕"/>
                <a:ea typeface="한컴 고딕"/>
              </a:rPr>
              <a:t> </a:t>
            </a:r>
            <a:r>
              <a:rPr lang="en-US" altLang="ko-KR" dirty="0" err="1">
                <a:latin typeface="한컴 고딕"/>
                <a:ea typeface="한컴 고딕"/>
              </a:rPr>
              <a:t>방안</a:t>
            </a:r>
            <a:endParaRPr lang="en-US" altLang="ko-KR" dirty="0">
              <a:latin typeface="한컴 고딕"/>
              <a:ea typeface="한컴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7997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644291" y="3188068"/>
            <a:ext cx="10515600" cy="72074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dirty="0">
                <a:latin typeface="한컴 고딕"/>
                <a:ea typeface="한컴 고딕"/>
              </a:rPr>
              <a:t>1. </a:t>
            </a:r>
            <a:r>
              <a:rPr lang="en-US" altLang="ko-KR" dirty="0" err="1">
                <a:latin typeface="한컴 고딕"/>
                <a:ea typeface="한컴 고딕"/>
              </a:rPr>
              <a:t>프로젝트</a:t>
            </a:r>
            <a:r>
              <a:rPr lang="en-US" altLang="ko-KR" dirty="0">
                <a:latin typeface="한컴 고딕"/>
                <a:ea typeface="한컴 고딕"/>
              </a:rPr>
              <a:t> </a:t>
            </a:r>
            <a:r>
              <a:rPr lang="en-US" altLang="ko-KR" dirty="0" err="1">
                <a:latin typeface="한컴 고딕"/>
                <a:ea typeface="한컴 고딕"/>
              </a:rPr>
              <a:t>추진</a:t>
            </a:r>
            <a:r>
              <a:rPr lang="en-US" altLang="ko-KR" dirty="0">
                <a:latin typeface="한컴 고딕"/>
                <a:ea typeface="한컴 고딕"/>
              </a:rPr>
              <a:t> </a:t>
            </a:r>
            <a:r>
              <a:rPr lang="en-US" altLang="ko-KR" dirty="0" err="1">
                <a:latin typeface="한컴 고딕"/>
                <a:ea typeface="한컴 고딕"/>
              </a:rPr>
              <a:t>배경</a:t>
            </a:r>
            <a:endParaRPr lang="en-US" altLang="ko-KR" dirty="0">
              <a:latin typeface="한컴 고딕"/>
              <a:ea typeface="한컴 고딕"/>
            </a:endParaRPr>
          </a:p>
        </p:txBody>
      </p:sp>
    </p:spTree>
    <p:extLst>
      <p:ext uri="{BB962C8B-B14F-4D97-AF65-F5344CB8AC3E}">
        <p14:creationId xmlns:p14="http://schemas.microsoft.com/office/powerpoint/2010/main" val="99884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697A13D-C362-93D1-6EC8-6B0B7B4B97FC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ko-KR" altLang="en-US" sz="4000">
                <a:latin typeface="Malgun Gothic"/>
                <a:ea typeface="Malgun Gothic"/>
                <a:cs typeface="LilyUPC"/>
              </a:rPr>
              <a:t>추진 배경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C5634FF-E570-B46B-C301-BAA95B5DDDA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05892" cy="435133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2000" dirty="0">
                <a:latin typeface="Malgun Gothic"/>
                <a:ea typeface="Malgun Gothic"/>
              </a:rPr>
              <a:t> AI 및 HPC(고성능 컴퓨팅) 연구 환경에서 </a:t>
            </a:r>
            <a:r>
              <a:rPr lang="ko-KR" altLang="en-US" sz="2000" b="1" dirty="0">
                <a:solidFill>
                  <a:srgbClr val="C00000"/>
                </a:solidFill>
                <a:latin typeface="Malgun Gothic"/>
                <a:ea typeface="Malgun Gothic"/>
              </a:rPr>
              <a:t>GPU 자원</a:t>
            </a:r>
            <a:r>
              <a:rPr lang="ko-KR" altLang="en-US" sz="2000" dirty="0">
                <a:latin typeface="Malgun Gothic"/>
                <a:ea typeface="Malgun Gothic"/>
              </a:rPr>
              <a:t>은 연구에 매우 중요한 요소</a:t>
            </a:r>
            <a:endParaRPr lang="ko-KR" sz="2000" dirty="0">
              <a:latin typeface="맑은 고딕" panose="020F0502020204030204"/>
              <a:ea typeface="맑은 고딕" panose="020B0503020000020004" pitchFamily="34" charset="-127"/>
            </a:endParaRPr>
          </a:p>
          <a:p>
            <a:pPr>
              <a:lnSpc>
                <a:spcPct val="120000"/>
              </a:lnSpc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2000" dirty="0">
                <a:latin typeface="Malgun Gothic"/>
                <a:ea typeface="Malgun Gothic"/>
              </a:rPr>
              <a:t> 전통적인 시스템 구축 방식은 </a:t>
            </a:r>
            <a:r>
              <a:rPr lang="ko-KR" altLang="en-US" sz="2000" b="1" dirty="0">
                <a:solidFill>
                  <a:srgbClr val="C00000"/>
                </a:solidFill>
                <a:latin typeface="Malgun Gothic"/>
                <a:ea typeface="Malgun Gothic"/>
              </a:rPr>
              <a:t>유연성이 낮아 자원 활용도가 낮다는 한계</a:t>
            </a:r>
            <a:r>
              <a:rPr lang="ko-KR" altLang="en-US" sz="2000" dirty="0">
                <a:latin typeface="Malgun Gothic"/>
                <a:ea typeface="Malgun Gothic"/>
              </a:rPr>
              <a:t> 존재</a:t>
            </a: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  <a:defRPr/>
            </a:pPr>
            <a:r>
              <a:rPr lang="ko-KR" altLang="en-US" sz="1600" b="1" dirty="0"/>
              <a:t>자원 유휴 문제</a:t>
            </a:r>
            <a:r>
              <a:rPr lang="ko-KR" altLang="en-US" sz="1600" dirty="0"/>
              <a:t> </a:t>
            </a:r>
            <a:r>
              <a:rPr lang="en-US" altLang="ko-KR" sz="1600" dirty="0"/>
              <a:t>: CPU </a:t>
            </a:r>
            <a:r>
              <a:rPr lang="ko-KR" altLang="en-US" sz="1600" dirty="0"/>
              <a:t>집중 작업과 </a:t>
            </a:r>
            <a:r>
              <a:rPr lang="en-US" altLang="ko-KR" sz="1600" dirty="0"/>
              <a:t>GPU </a:t>
            </a:r>
            <a:r>
              <a:rPr lang="ko-KR" altLang="en-US" sz="1600" dirty="0"/>
              <a:t>집중 작업이 분리 운영될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한 자원이 바쁠 때 다른 자원은 유휴 상태에 놓여 전체 시스템 가동률 저하</a:t>
            </a:r>
            <a:endParaRPr lang="en-US" altLang="ko-KR" sz="1600" dirty="0"/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  <a:defRPr/>
            </a:pPr>
            <a:r>
              <a:rPr lang="ko-KR" altLang="en-US" sz="1600" b="1" dirty="0"/>
              <a:t>단일 자원 풀 기반 상호 보완적 스케줄링</a:t>
            </a:r>
            <a:r>
              <a:rPr lang="ko-KR" altLang="en-US" sz="1600" dirty="0"/>
              <a:t> </a:t>
            </a:r>
            <a:r>
              <a:rPr lang="en-US" altLang="ko-KR" sz="1600" dirty="0"/>
              <a:t>: CPU·GPU </a:t>
            </a:r>
            <a:r>
              <a:rPr lang="ko-KR" altLang="en-US" sz="1600" dirty="0"/>
              <a:t>집중 작업을 하나의 자원 풀 안에서 함께 </a:t>
            </a:r>
            <a:r>
              <a:rPr lang="ko-KR" altLang="en-US" sz="1600" dirty="0" err="1"/>
              <a:t>스케줄링하여</a:t>
            </a:r>
            <a:r>
              <a:rPr lang="ko-KR" altLang="en-US" sz="1600" dirty="0"/>
              <a:t> 유휴 자원을 상호 보완적으로 채움으로써 전체 시스템 가동률 최대화</a:t>
            </a:r>
            <a:endParaRPr lang="en-US" altLang="ko-KR" sz="1600" dirty="0">
              <a:latin typeface="Malgun Gothic"/>
              <a:ea typeface="Malgun Gothic"/>
            </a:endParaRP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  <a:defRPr/>
            </a:pPr>
            <a:endParaRPr lang="en-US" altLang="ko-KR" sz="1600" dirty="0">
              <a:latin typeface="Malgun Gothic"/>
              <a:ea typeface="Malgun Gothic"/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2000" dirty="0">
                <a:latin typeface="Malgun Gothic"/>
                <a:ea typeface="Malgun Gothic"/>
              </a:rPr>
              <a:t>여러 대의 </a:t>
            </a:r>
            <a:r>
              <a:rPr lang="ko-KR" altLang="en-US" sz="2000" dirty="0" err="1">
                <a:latin typeface="Malgun Gothic"/>
                <a:ea typeface="Malgun Gothic"/>
              </a:rPr>
              <a:t>workstation을</a:t>
            </a:r>
            <a:r>
              <a:rPr lang="ko-KR" altLang="en-US" sz="2000" dirty="0">
                <a:latin typeface="Malgun Gothic"/>
                <a:ea typeface="Malgun Gothic"/>
              </a:rPr>
              <a:t> 보유했더라도, 하나의 </a:t>
            </a:r>
            <a:r>
              <a:rPr lang="ko-KR" altLang="en-US" sz="2000" b="1" dirty="0">
                <a:solidFill>
                  <a:srgbClr val="C00000"/>
                </a:solidFill>
                <a:latin typeface="Malgun Gothic"/>
                <a:ea typeface="Malgun Gothic"/>
              </a:rPr>
              <a:t>통합된 자원 </a:t>
            </a: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Pool</a:t>
            </a:r>
            <a:r>
              <a:rPr lang="ko-KR" altLang="en-US" sz="2000" dirty="0" err="1">
                <a:latin typeface="Malgun Gothic"/>
                <a:ea typeface="Malgun Gothic"/>
              </a:rPr>
              <a:t>로</a:t>
            </a:r>
            <a:r>
              <a:rPr lang="ko-KR" altLang="en-US" sz="2000" dirty="0">
                <a:latin typeface="Malgun Gothic"/>
                <a:ea typeface="Malgun Gothic"/>
              </a:rPr>
              <a:t> 관리하고, </a:t>
            </a:r>
            <a:r>
              <a:rPr lang="ko-KR" altLang="en-US" sz="2000" b="1" dirty="0">
                <a:solidFill>
                  <a:srgbClr val="C00000"/>
                </a:solidFill>
                <a:latin typeface="Malgun Gothic"/>
                <a:ea typeface="Malgun Gothic"/>
              </a:rPr>
              <a:t>작업에 효율적으로 분배하는 체계</a:t>
            </a:r>
            <a:r>
              <a:rPr lang="ko-KR" altLang="en-US" sz="2000" dirty="0">
                <a:latin typeface="Malgun Gothic"/>
                <a:ea typeface="Malgun Gothic"/>
              </a:rPr>
              <a:t>가 부족한 실정</a:t>
            </a:r>
          </a:p>
          <a:p>
            <a:pPr lvl="1">
              <a:lnSpc>
                <a:spcPct val="120000"/>
              </a:lnSpc>
              <a:buFont typeface="Courier New" panose="020B0604020202020204" pitchFamily="34" charset="0"/>
              <a:buChar char="o"/>
              <a:defRPr/>
            </a:pPr>
            <a:r>
              <a:rPr lang="ko-KR" altLang="en-US" sz="1600" dirty="0">
                <a:latin typeface="Malgun Gothic"/>
                <a:ea typeface="Malgun Gothic"/>
              </a:rPr>
              <a:t>현재 연구실에도 Workstation 3대가 있지만, 각각 분리된 환경에서 활용 및 관리 중</a:t>
            </a:r>
          </a:p>
          <a:p>
            <a:pPr>
              <a:lnSpc>
                <a:spcPct val="120000"/>
              </a:lnSpc>
              <a:defRPr/>
            </a:pPr>
            <a:endParaRPr lang="en-US" altLang="ko-KR" sz="2000" dirty="0">
              <a:latin typeface="Malgun Gothic"/>
              <a:ea typeface="Malgun Gothic"/>
            </a:endParaRPr>
          </a:p>
          <a:p>
            <a:pPr>
              <a:lnSpc>
                <a:spcPct val="120000"/>
              </a:lnSpc>
              <a:defRPr/>
            </a:pPr>
            <a:endParaRPr lang="en-US" altLang="ko-KR" sz="2000" dirty="0">
              <a:latin typeface="Malgun Gothic"/>
              <a:ea typeface="Malgun Gothic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1417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47D4-13EC-06B5-BC2F-2356C3D8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E5AAE6C-A80B-5CB9-B459-38AE29913314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buAutoNum type="arabicPeriod"/>
            </a:pPr>
            <a:r>
              <a:rPr lang="ko-KR" altLang="en-US" sz="4000">
                <a:latin typeface="Malgun Gothic"/>
                <a:ea typeface="Malgun Gothic"/>
                <a:cs typeface="LilyUPC"/>
              </a:rPr>
              <a:t>추진 배경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0D3BD25-5DDC-7A80-280C-84860520F7CB}"/>
              </a:ext>
            </a:extLst>
          </p:cNvPr>
          <p:cNvSpPr txBox="1">
            <a:spLocks/>
          </p:cNvSpPr>
          <p:nvPr/>
        </p:nvSpPr>
        <p:spPr>
          <a:xfrm>
            <a:off x="5281589" y="1992646"/>
            <a:ext cx="6747850" cy="32829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0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Openstack</a:t>
            </a:r>
            <a:r>
              <a:rPr lang="ko-KR" altLang="en-US" sz="1400" dirty="0">
                <a:latin typeface="Malgun Gothic"/>
                <a:ea typeface="Malgun Gothic"/>
              </a:rPr>
              <a:t>(오픈소스 클라우드 플랫폼)</a:t>
            </a:r>
            <a:r>
              <a:rPr lang="ko-KR" altLang="en-US" sz="2000" dirty="0">
                <a:latin typeface="Malgun Gothic"/>
                <a:ea typeface="Malgun Gothic"/>
              </a:rPr>
              <a:t>을 활용해 </a:t>
            </a:r>
            <a:r>
              <a:rPr lang="ko-KR" altLang="en-US" sz="2000" dirty="0" err="1">
                <a:latin typeface="Malgun Gothic"/>
                <a:ea typeface="Malgun Gothic"/>
              </a:rPr>
              <a:t>IaaS</a:t>
            </a:r>
            <a:r>
              <a:rPr lang="ko-KR" altLang="en-US" sz="1400" dirty="0">
                <a:latin typeface="Malgun Gothic"/>
                <a:ea typeface="Malgun Gothic"/>
              </a:rPr>
              <a:t>(</a:t>
            </a:r>
            <a:r>
              <a:rPr lang="ko-KR" altLang="en-US" sz="1400" dirty="0" err="1">
                <a:latin typeface="Malgun Gothic"/>
                <a:ea typeface="Malgun Gothic"/>
              </a:rPr>
              <a:t>Infrastructure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as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a</a:t>
            </a:r>
            <a:r>
              <a:rPr lang="ko-KR" altLang="en-US" sz="1400" dirty="0">
                <a:latin typeface="Malgun Gothic"/>
                <a:ea typeface="Malgun Gothic"/>
              </a:rPr>
              <a:t> Service = 클라우드 컴퓨팅) </a:t>
            </a:r>
            <a:r>
              <a:rPr lang="ko-KR" altLang="en-US" sz="2000" dirty="0">
                <a:latin typeface="Malgun Gothic"/>
                <a:ea typeface="Malgun Gothic"/>
              </a:rPr>
              <a:t>환경 구축</a:t>
            </a: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algun Gothic"/>
                <a:ea typeface="Malgun Gothic"/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Prometheus</a:t>
            </a:r>
            <a:r>
              <a:rPr lang="en-US" altLang="ko-KR" sz="2000" b="1" dirty="0">
                <a:solidFill>
                  <a:srgbClr val="C00000"/>
                </a:solidFill>
                <a:latin typeface="Malgun Gothic"/>
                <a:ea typeface="Malgun Gothic"/>
              </a:rPr>
              <a:t>/Grafana</a:t>
            </a:r>
            <a:r>
              <a:rPr lang="ko-KR" sz="1400" dirty="0">
                <a:solidFill>
                  <a:srgbClr val="000000"/>
                </a:solidFill>
                <a:latin typeface="Malgun Gothic"/>
                <a:ea typeface="Malgun Gothic"/>
              </a:rPr>
              <a:t>(</a:t>
            </a:r>
            <a:r>
              <a:rPr lang="ko-KR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오픈 소스 기반의 시스템 모니터링 및 </a:t>
            </a:r>
            <a:r>
              <a:rPr lang="ko-KR" altLang="en-US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경고 </a:t>
            </a:r>
            <a:r>
              <a:rPr lang="ko-KR" alt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툴킷</a:t>
            </a:r>
            <a:r>
              <a:rPr lang="ko-KR" sz="1400" dirty="0">
                <a:solidFill>
                  <a:srgbClr val="000000"/>
                </a:solidFill>
                <a:latin typeface="Malgun Gothic"/>
                <a:ea typeface="Malgun Gothic"/>
              </a:rPr>
              <a:t>)</a:t>
            </a:r>
            <a:r>
              <a:rPr lang="ko-KR" altLang="en-US" sz="2000" dirty="0">
                <a:solidFill>
                  <a:srgbClr val="000000"/>
                </a:solidFill>
                <a:latin typeface="Malgun Gothic"/>
                <a:ea typeface="Malgun Gothic"/>
              </a:rPr>
              <a:t>으로  실시간 자원 관리 시스템 구현</a:t>
            </a:r>
            <a:endParaRPr lang="ko-KR" sz="20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r>
              <a:rPr lang="ko-KR" altLang="en-US" sz="2000" dirty="0">
                <a:latin typeface="Malgun Gothic"/>
                <a:ea typeface="Malgun Gothic"/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Kubernetes</a:t>
            </a:r>
            <a:r>
              <a:rPr lang="ko-KR" altLang="en-US" sz="1400" dirty="0">
                <a:latin typeface="Malgun Gothic"/>
                <a:ea typeface="Malgun Gothic"/>
              </a:rPr>
              <a:t>(</a:t>
            </a:r>
            <a:r>
              <a:rPr lang="ko-KR" alt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컨테이너화된</a:t>
            </a:r>
            <a:r>
              <a:rPr lang="ko-KR" altLang="en-US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애플리케이션을 자동으로 배포, 확장 및 관리하는 오픈 소스 플랫폼)</a:t>
            </a:r>
            <a:r>
              <a:rPr lang="ko-KR" altLang="en-US" sz="20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을 활용해 </a:t>
            </a:r>
            <a:r>
              <a:rPr lang="ko-KR" altLang="en-US" sz="20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PaaS</a:t>
            </a:r>
            <a:r>
              <a:rPr lang="ko-KR" altLang="en-US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(</a:t>
            </a:r>
            <a:r>
              <a:rPr lang="ko-KR" alt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Platform</a:t>
            </a:r>
            <a:r>
              <a:rPr lang="ko-KR" altLang="en-US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as</a:t>
            </a:r>
            <a:r>
              <a:rPr lang="ko-KR" altLang="en-US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4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a</a:t>
            </a:r>
            <a:r>
              <a:rPr lang="ko-KR" altLang="en-US" sz="14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Service) </a:t>
            </a:r>
            <a:r>
              <a:rPr lang="ko-KR" altLang="en-US" sz="20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환경 구축</a:t>
            </a: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  <p:pic>
        <p:nvPicPr>
          <p:cNvPr id="7" name="그림 6" descr="Cloud Computing | What it is &amp; what it can do | GFOS">
            <a:extLst>
              <a:ext uri="{FF2B5EF4-FFF2-40B4-BE49-F238E27FC236}">
                <a16:creationId xmlns:a16="http://schemas.microsoft.com/office/drawing/2014/main" id="{C5FF2E52-6C23-2524-E3ED-ED312A8B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06" y="1885834"/>
            <a:ext cx="4493149" cy="392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5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56BC9-E7B5-3B9C-B005-C1222D4453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프로젝트 목표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F649CC1-8ADB-550C-564F-FB2F184995A6}"/>
              </a:ext>
            </a:extLst>
          </p:cNvPr>
          <p:cNvSpPr/>
          <p:nvPr/>
        </p:nvSpPr>
        <p:spPr>
          <a:xfrm>
            <a:off x="988060" y="1792288"/>
            <a:ext cx="10215880" cy="1062672"/>
          </a:xfrm>
          <a:prstGeom prst="roundRect">
            <a:avLst>
              <a:gd name="adj" fmla="val 927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2400" b="1" dirty="0">
                <a:solidFill>
                  <a:schemeClr val="tx1"/>
                </a:solidFill>
              </a:rPr>
              <a:t>단일 </a:t>
            </a:r>
            <a:r>
              <a:rPr lang="en-US" altLang="ko-KR" sz="2400" b="1" dirty="0">
                <a:solidFill>
                  <a:schemeClr val="tx1"/>
                </a:solidFill>
              </a:rPr>
              <a:t>Rack GPU </a:t>
            </a:r>
            <a:r>
              <a:rPr lang="ko-KR" altLang="en-US" sz="2400" b="1" dirty="0">
                <a:solidFill>
                  <a:schemeClr val="tx1"/>
                </a:solidFill>
              </a:rPr>
              <a:t>노드 기반 이기종 자원 운용 체계 설계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7F4C707-C136-5745-F186-03D7A711FEA1}"/>
              </a:ext>
            </a:extLst>
          </p:cNvPr>
          <p:cNvSpPr/>
          <p:nvPr/>
        </p:nvSpPr>
        <p:spPr>
          <a:xfrm>
            <a:off x="988060" y="3308112"/>
            <a:ext cx="10215880" cy="1062672"/>
          </a:xfrm>
          <a:prstGeom prst="roundRect">
            <a:avLst>
              <a:gd name="adj" fmla="val 927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2400" b="1" dirty="0">
                <a:solidFill>
                  <a:schemeClr val="tx1"/>
                </a:solidFill>
              </a:rPr>
              <a:t>OpenStack </a:t>
            </a:r>
            <a:r>
              <a:rPr lang="ko-KR" altLang="en-US" sz="2400" b="1" dirty="0">
                <a:solidFill>
                  <a:schemeClr val="tx1"/>
                </a:solidFill>
              </a:rPr>
              <a:t>기반 </a:t>
            </a:r>
            <a:r>
              <a:rPr lang="en-US" altLang="ko-KR" sz="2400" b="1" dirty="0">
                <a:solidFill>
                  <a:schemeClr val="tx1"/>
                </a:solidFill>
              </a:rPr>
              <a:t>GPU </a:t>
            </a:r>
            <a:r>
              <a:rPr lang="ko-KR" altLang="en-US" sz="2400" b="1" dirty="0">
                <a:solidFill>
                  <a:schemeClr val="tx1"/>
                </a:solidFill>
              </a:rPr>
              <a:t>클라우드 환경 구축</a:t>
            </a:r>
            <a:endParaRPr lang="en-US" altLang="ko-KR" sz="2400" b="1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89DA9BA-1E23-C3E0-665F-B9861AB37B29}"/>
              </a:ext>
            </a:extLst>
          </p:cNvPr>
          <p:cNvSpPr/>
          <p:nvPr/>
        </p:nvSpPr>
        <p:spPr>
          <a:xfrm>
            <a:off x="988060" y="4823936"/>
            <a:ext cx="10215880" cy="1062672"/>
          </a:xfrm>
          <a:prstGeom prst="roundRect">
            <a:avLst>
              <a:gd name="adj" fmla="val 927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2400" b="1" dirty="0">
                <a:solidFill>
                  <a:schemeClr val="tx1"/>
                </a:solidFill>
              </a:rPr>
              <a:t>Kubernetes </a:t>
            </a:r>
            <a:r>
              <a:rPr lang="ko-KR" altLang="en-US" sz="2400" b="1" dirty="0">
                <a:solidFill>
                  <a:schemeClr val="tx1"/>
                </a:solidFill>
              </a:rPr>
              <a:t>기반 성능 비교 분석</a:t>
            </a:r>
          </a:p>
        </p:txBody>
      </p:sp>
    </p:spTree>
    <p:extLst>
      <p:ext uri="{BB962C8B-B14F-4D97-AF65-F5344CB8AC3E}">
        <p14:creationId xmlns:p14="http://schemas.microsoft.com/office/powerpoint/2010/main" val="406727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6A94A-87C2-84AD-A4B5-1FFA4548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98EF77D-A132-4EFB-A363-0EE66B3AC636}"/>
              </a:ext>
            </a:extLst>
          </p:cNvPr>
          <p:cNvSpPr txBox="1">
            <a:spLocks/>
          </p:cNvSpPr>
          <p:nvPr/>
        </p:nvSpPr>
        <p:spPr>
          <a:xfrm>
            <a:off x="644291" y="3188068"/>
            <a:ext cx="10515600" cy="72074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>
                <a:latin typeface="한컴 고딕"/>
                <a:ea typeface="한컴 고딕"/>
              </a:rPr>
              <a:t>2. </a:t>
            </a:r>
            <a:r>
              <a:rPr lang="en-US" altLang="ko-KR" err="1">
                <a:latin typeface="한컴 고딕"/>
                <a:ea typeface="한컴 고딕"/>
              </a:rPr>
              <a:t>과제</a:t>
            </a:r>
            <a:r>
              <a:rPr lang="en-US" altLang="ko-KR">
                <a:latin typeface="한컴 고딕"/>
                <a:ea typeface="한컴 고딕"/>
              </a:rPr>
              <a:t> 내용</a:t>
            </a:r>
          </a:p>
        </p:txBody>
      </p:sp>
    </p:spTree>
    <p:extLst>
      <p:ext uri="{BB962C8B-B14F-4D97-AF65-F5344CB8AC3E}">
        <p14:creationId xmlns:p14="http://schemas.microsoft.com/office/powerpoint/2010/main" val="381878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69E0B-02B1-3DF0-42C2-F5DACDDB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73EE5A0-77A1-CF84-E280-FE0E53C5AF40}"/>
              </a:ext>
            </a:extLst>
          </p:cNvPr>
          <p:cNvSpPr txBox="1">
            <a:spLocks/>
          </p:cNvSpPr>
          <p:nvPr/>
        </p:nvSpPr>
        <p:spPr>
          <a:xfrm>
            <a:off x="644291" y="3188068"/>
            <a:ext cx="10515600" cy="72074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dirty="0">
                <a:latin typeface="한컴 고딕"/>
                <a:ea typeface="한컴 고딕"/>
              </a:rPr>
              <a:t>2.1 </a:t>
            </a:r>
            <a:r>
              <a:rPr lang="en-US" altLang="ko-KR" dirty="0" err="1">
                <a:latin typeface="한컴 고딕"/>
                <a:ea typeface="한컴 고딕"/>
              </a:rPr>
              <a:t>개발에</a:t>
            </a:r>
            <a:r>
              <a:rPr lang="en-US" altLang="ko-KR" dirty="0">
                <a:latin typeface="한컴 고딕"/>
                <a:ea typeface="한컴 고딕"/>
              </a:rPr>
              <a:t> </a:t>
            </a:r>
            <a:r>
              <a:rPr lang="en-US" altLang="ko-KR" dirty="0" err="1">
                <a:latin typeface="한컴 고딕"/>
                <a:ea typeface="한컴 고딕"/>
              </a:rPr>
              <a:t>사용</a:t>
            </a:r>
            <a:r>
              <a:rPr lang="ko-KR" altLang="en-US" dirty="0">
                <a:latin typeface="한컴 고딕"/>
                <a:ea typeface="한컴 고딕"/>
              </a:rPr>
              <a:t>할</a:t>
            </a:r>
            <a:r>
              <a:rPr lang="en-US" altLang="ko-KR" dirty="0">
                <a:latin typeface="한컴 고딕"/>
                <a:ea typeface="한컴 고딕"/>
              </a:rPr>
              <a:t> 툴</a:t>
            </a:r>
          </a:p>
        </p:txBody>
      </p:sp>
    </p:spTree>
    <p:extLst>
      <p:ext uri="{BB962C8B-B14F-4D97-AF65-F5344CB8AC3E}">
        <p14:creationId xmlns:p14="http://schemas.microsoft.com/office/powerpoint/2010/main" val="253822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1003A-79DE-D7D8-A427-BC17670A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 descr="Open Source Cloud Computing Infrastructure - OpenStack">
            <a:extLst>
              <a:ext uri="{FF2B5EF4-FFF2-40B4-BE49-F238E27FC236}">
                <a16:creationId xmlns:a16="http://schemas.microsoft.com/office/drawing/2014/main" id="{A2E336A1-5AC5-C411-4A62-88B372D1B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912" y="1503272"/>
            <a:ext cx="3217126" cy="331248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04BD7E-F2C6-A56C-3DE3-81C1F3E9267C}"/>
              </a:ext>
            </a:extLst>
          </p:cNvPr>
          <p:cNvSpPr txBox="1">
            <a:spLocks/>
          </p:cNvSpPr>
          <p:nvPr/>
        </p:nvSpPr>
        <p:spPr>
          <a:xfrm>
            <a:off x="979076" y="4808330"/>
            <a:ext cx="3309559" cy="151731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Openstack</a:t>
            </a:r>
            <a:endParaRPr lang="ko-KR" altLang="en-US" sz="2000" dirty="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  <a:p>
            <a:pPr marL="0" indent="0" algn="ctr">
              <a:buNone/>
              <a:defRPr/>
            </a:pPr>
            <a:r>
              <a:rPr lang="ko-KR" altLang="en-US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기업이나 개인이 </a:t>
            </a:r>
            <a:r>
              <a:rPr lang="ko-KR" altLang="en-US" sz="16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AWS와</a:t>
            </a:r>
            <a:r>
              <a:rPr lang="ko-KR" altLang="en-US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유사한 클라우드 인프라를 자체적으로   구축하고 운영할 수 있게 해주는 소프트웨어 플랫폼</a:t>
            </a:r>
            <a:endParaRPr lang="ko-KR" altLang="en-US" sz="16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  <p:pic>
        <p:nvPicPr>
          <p:cNvPr id="7" name="그림 6" descr="Prometheus] prometheus 시작하기 (설치, 구성, 실행)">
            <a:extLst>
              <a:ext uri="{FF2B5EF4-FFF2-40B4-BE49-F238E27FC236}">
                <a16:creationId xmlns:a16="http://schemas.microsoft.com/office/drawing/2014/main" id="{BDE4F616-C6A6-BE97-43FB-AF5279E490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90" r="23051" b="599"/>
          <a:stretch>
            <a:fillRect/>
          </a:stretch>
        </p:blipFill>
        <p:spPr>
          <a:xfrm>
            <a:off x="4547839" y="1607402"/>
            <a:ext cx="3086169" cy="329941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BDA4826-36FF-969A-406D-525F6AC9B00F}"/>
              </a:ext>
            </a:extLst>
          </p:cNvPr>
          <p:cNvSpPr txBox="1">
            <a:spLocks/>
          </p:cNvSpPr>
          <p:nvPr/>
        </p:nvSpPr>
        <p:spPr>
          <a:xfrm>
            <a:off x="4435954" y="4678232"/>
            <a:ext cx="3318851" cy="151731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Prometheus</a:t>
            </a:r>
            <a:endParaRPr lang="ko-KR" altLang="en-US" sz="2000" dirty="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  <a:p>
            <a:pPr marL="0" indent="0" algn="ctr">
              <a:buNone/>
              <a:defRPr/>
            </a:pP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오픈 소스 기반의 시스템 모니터링 및 경고(</a:t>
            </a:r>
            <a:r>
              <a:rPr 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Alerting</a:t>
            </a: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) </a:t>
            </a:r>
            <a:r>
              <a:rPr 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툴킷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. </a:t>
            </a:r>
            <a:endParaRPr lang="ko-KR" altLang="en-US" sz="2000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  <p:pic>
        <p:nvPicPr>
          <p:cNvPr id="9" name="그림 8" descr="Deploying Prometheus &amp; Grafana | Blog Bujarra.com">
            <a:extLst>
              <a:ext uri="{FF2B5EF4-FFF2-40B4-BE49-F238E27FC236}">
                <a16:creationId xmlns:a16="http://schemas.microsoft.com/office/drawing/2014/main" id="{A76DEA80-A618-37DC-359F-F833411328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254" r="-339" b="12169"/>
          <a:stretch>
            <a:fillRect/>
          </a:stretch>
        </p:blipFill>
        <p:spPr>
          <a:xfrm>
            <a:off x="8571570" y="1762469"/>
            <a:ext cx="2416936" cy="299889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0EE35F5-23AE-E5BD-9BE9-62562BF786A8}"/>
              </a:ext>
            </a:extLst>
          </p:cNvPr>
          <p:cNvSpPr txBox="1">
            <a:spLocks/>
          </p:cNvSpPr>
          <p:nvPr/>
        </p:nvSpPr>
        <p:spPr>
          <a:xfrm>
            <a:off x="8125149" y="4733988"/>
            <a:ext cx="3467534" cy="14615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Grafana</a:t>
            </a:r>
            <a:endParaRPr lang="ko-KR" altLang="en-US" sz="2000" dirty="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  <a:p>
            <a:pPr marL="0" indent="0" algn="ctr">
              <a:buNone/>
              <a:defRPr/>
            </a:pP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데이터 시각화, </a:t>
            </a: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분석 및 모니터링을 위한 오픈 소스 대시보드 </a:t>
            </a:r>
            <a:r>
              <a:rPr lang="ko-KR" altLang="en-US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플랫폼</a:t>
            </a:r>
            <a:br>
              <a:rPr lang="ko-KR" altLang="en-US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</a:br>
            <a:r>
              <a:rPr lang="ko-KR" altLang="en-US" sz="1600" dirty="0" err="1">
                <a:latin typeface="Malgun Gothic"/>
                <a:ea typeface="Malgun Gothic"/>
                <a:cs typeface="Arial"/>
              </a:rPr>
              <a:t>Prometheus가</a:t>
            </a:r>
            <a:r>
              <a:rPr lang="ko-KR" altLang="en-US" sz="1600" dirty="0">
                <a:latin typeface="Malgun Gothic"/>
                <a:ea typeface="Malgun Gothic"/>
                <a:cs typeface="Arial"/>
              </a:rPr>
              <a:t> 수집한 데이터를       </a:t>
            </a:r>
            <a:r>
              <a:rPr lang="ko-KR" altLang="en-US" sz="1600" dirty="0" err="1">
                <a:latin typeface="Malgun Gothic"/>
                <a:ea typeface="Malgun Gothic"/>
                <a:cs typeface="Arial"/>
              </a:rPr>
              <a:t>시각화하여</a:t>
            </a:r>
            <a:r>
              <a:rPr lang="ko-KR" altLang="en-US" sz="1600" dirty="0">
                <a:latin typeface="Malgun Gothic"/>
                <a:ea typeface="Malgun Gothic"/>
                <a:cs typeface="Arial"/>
              </a:rPr>
              <a:t> 모니터링</a:t>
            </a:r>
            <a:endParaRPr lang="ko-KR" sz="1600" dirty="0">
              <a:latin typeface="Malgun Gothic"/>
              <a:ea typeface="Malgun Gothic"/>
              <a:cs typeface="Arial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6ECF7524-3B6B-41EB-7352-B02C820ED747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dirty="0">
                <a:latin typeface="Malgun Gothic"/>
                <a:ea typeface="Malgun Gothic"/>
                <a:cs typeface="LilyUPC"/>
              </a:rPr>
              <a:t>2.1 개발에 사용할 툴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429096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90E6-4AE2-9594-284B-64C152C2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0CF3F0-865E-894C-5A10-AA426AF318E7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dirty="0">
                <a:latin typeface="Malgun Gothic"/>
                <a:ea typeface="Malgun Gothic"/>
                <a:cs typeface="LilyUPC"/>
              </a:rPr>
              <a:t>2.1 개발에 사용할 툴</a:t>
            </a:r>
            <a:endParaRPr lang="ko-KR" dirty="0"/>
          </a:p>
        </p:txBody>
      </p:sp>
      <p:pic>
        <p:nvPicPr>
          <p:cNvPr id="5" name="그림 4" descr="쿠버네티스란?">
            <a:extLst>
              <a:ext uri="{FF2B5EF4-FFF2-40B4-BE49-F238E27FC236}">
                <a16:creationId xmlns:a16="http://schemas.microsoft.com/office/drawing/2014/main" id="{A9082A28-B900-92A5-8EA5-AF1A889D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906" y="1381125"/>
            <a:ext cx="5310188" cy="2988469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41DB5956-4391-7793-9F75-C0446925A79F}"/>
              </a:ext>
            </a:extLst>
          </p:cNvPr>
          <p:cNvSpPr txBox="1">
            <a:spLocks/>
          </p:cNvSpPr>
          <p:nvPr/>
        </p:nvSpPr>
        <p:spPr>
          <a:xfrm>
            <a:off x="3505334" y="4641643"/>
            <a:ext cx="5174574" cy="111684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ko-KR" altLang="en-US" sz="2000" b="1" dirty="0" err="1">
                <a:solidFill>
                  <a:srgbClr val="C00000"/>
                </a:solidFill>
                <a:latin typeface="Malgun Gothic"/>
                <a:ea typeface="Malgun Gothic"/>
              </a:rPr>
              <a:t>Kubernetes</a:t>
            </a:r>
            <a:endParaRPr lang="ko-KR" altLang="en-US" sz="2000" dirty="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  <a:p>
            <a:pPr marL="0" indent="0" algn="ctr">
              <a:buNone/>
              <a:defRPr/>
            </a:pPr>
            <a:r>
              <a:rPr 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컨테이너화된</a:t>
            </a: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애플리케이션을 자동으로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배포, 확장 및</a:t>
            </a:r>
            <a:b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</a:br>
            <a:r>
              <a:rPr lang="ko-KR" sz="16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관리해 주는 오픈 소스 오케스트레이션 플랫폼</a:t>
            </a:r>
            <a:endParaRPr lang="ko-KR" dirty="0">
              <a:ea typeface="맑은 고딕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1785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45CB-B68C-D5F3-1C56-34B11ADDB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712A43E1-4961-C96C-7496-C40486467975}"/>
              </a:ext>
            </a:extLst>
          </p:cNvPr>
          <p:cNvSpPr txBox="1">
            <a:spLocks/>
          </p:cNvSpPr>
          <p:nvPr/>
        </p:nvSpPr>
        <p:spPr>
          <a:xfrm>
            <a:off x="644291" y="3188068"/>
            <a:ext cx="10515600" cy="72074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>
                <a:latin typeface="한컴 고딕"/>
                <a:ea typeface="한컴 고딕"/>
              </a:rPr>
              <a:t>2.2 과제 세부 내용</a:t>
            </a:r>
          </a:p>
        </p:txBody>
      </p:sp>
    </p:spTree>
    <p:extLst>
      <p:ext uri="{BB962C8B-B14F-4D97-AF65-F5344CB8AC3E}">
        <p14:creationId xmlns:p14="http://schemas.microsoft.com/office/powerpoint/2010/main" val="88410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3362A-61F1-B554-BC06-541D4373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745485-F7FB-235D-1C16-0D8F694CA90B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>
                <a:latin typeface="Malgun Gothic"/>
                <a:ea typeface="Malgun Gothic"/>
                <a:cs typeface="LilyUPC"/>
              </a:rPr>
              <a:t>2.2 과제 세부 내용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9AD9348-B2F3-FE14-8BCB-0AAD4E2E0FB2}"/>
              </a:ext>
            </a:extLst>
          </p:cNvPr>
          <p:cNvSpPr txBox="1">
            <a:spLocks/>
          </p:cNvSpPr>
          <p:nvPr/>
        </p:nvSpPr>
        <p:spPr>
          <a:xfrm>
            <a:off x="5986346" y="1714114"/>
            <a:ext cx="5813502" cy="41561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dirty="0">
                <a:latin typeface="Malgun Gothic"/>
                <a:ea typeface="Malgun Gothic"/>
              </a:rPr>
              <a:t> 이기종 자원 통합형 클라우드 구축</a:t>
            </a:r>
          </a:p>
          <a:p>
            <a:pPr>
              <a:defRPr/>
            </a:pPr>
            <a:endParaRPr lang="ko-KR" altLang="en-US" sz="24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altLang="en-US" sz="1800" b="1" dirty="0" err="1">
                <a:solidFill>
                  <a:srgbClr val="C00000"/>
                </a:solidFill>
                <a:latin typeface="Malgun Gothic"/>
                <a:ea typeface="Malgun Gothic"/>
              </a:rPr>
              <a:t>IaaS</a:t>
            </a:r>
            <a:r>
              <a:rPr lang="ko-KR" altLang="en-US" sz="1800" b="1" dirty="0">
                <a:solidFill>
                  <a:srgbClr val="C00000"/>
                </a:solidFill>
                <a:latin typeface="Malgun Gothic"/>
                <a:ea typeface="Malgun Gothic"/>
              </a:rPr>
              <a:t>(인프라 서비스) 레이어 (</a:t>
            </a:r>
            <a:r>
              <a:rPr lang="ko-KR" altLang="en-US" sz="1800" b="1" dirty="0" err="1">
                <a:solidFill>
                  <a:srgbClr val="C00000"/>
                </a:solidFill>
                <a:latin typeface="Malgun Gothic"/>
                <a:ea typeface="Malgun Gothic"/>
              </a:rPr>
              <a:t>Openstack</a:t>
            </a:r>
            <a:r>
              <a:rPr lang="ko-KR" altLang="en-US" sz="1800" b="1" dirty="0">
                <a:solidFill>
                  <a:srgbClr val="C00000"/>
                </a:solidFill>
                <a:latin typeface="Malgun Gothic"/>
                <a:ea typeface="Malgun Gothic"/>
              </a:rPr>
              <a:t>)</a:t>
            </a:r>
            <a:r>
              <a:rPr lang="ko-KR" altLang="en-US" sz="1800" dirty="0">
                <a:latin typeface="Malgun Gothic"/>
                <a:ea typeface="Malgun Gothic"/>
              </a:rPr>
              <a:t> : </a:t>
            </a: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lang="ko-KR" altLang="en-US" sz="1400" dirty="0" err="1">
                <a:latin typeface="Malgun Gothic"/>
                <a:ea typeface="Malgun Gothic"/>
              </a:rPr>
              <a:t>GPU의</a:t>
            </a:r>
            <a:r>
              <a:rPr lang="ko-KR" altLang="en-US" sz="1400" dirty="0">
                <a:latin typeface="Malgun Gothic"/>
                <a:ea typeface="Malgun Gothic"/>
              </a:rPr>
              <a:t> 성능과 개수가 상이한 3대의 워크스테이션을 </a:t>
            </a:r>
            <a:br>
              <a:rPr lang="ko-KR" altLang="en-US" sz="1400" dirty="0">
                <a:latin typeface="Malgun Gothic"/>
                <a:ea typeface="Malgun Gothic"/>
              </a:rPr>
            </a:br>
            <a:r>
              <a:rPr lang="ko-KR" altLang="en-US" sz="1400" dirty="0">
                <a:latin typeface="Malgun Gothic"/>
                <a:ea typeface="Malgun Gothic"/>
              </a:rPr>
              <a:t>단일 자원 풀로 통합</a:t>
            </a:r>
            <a:br>
              <a:rPr lang="en-US" altLang="ko-KR" sz="1400" dirty="0">
                <a:latin typeface="Malgun Gothic"/>
                <a:ea typeface="Malgun Gothic"/>
              </a:rPr>
            </a:br>
            <a:r>
              <a:rPr lang="ko-KR" altLang="en-US" sz="1400" dirty="0">
                <a:latin typeface="Malgun Gothic"/>
                <a:ea typeface="Malgun Gothic"/>
              </a:rPr>
              <a:t>(</a:t>
            </a:r>
            <a:r>
              <a:rPr lang="ko-KR" altLang="en-US" sz="1400" dirty="0" err="1">
                <a:latin typeface="Malgun Gothic"/>
                <a:ea typeface="Malgun Gothic"/>
              </a:rPr>
              <a:t>Controller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Node</a:t>
            </a:r>
            <a:r>
              <a:rPr lang="ko-KR" altLang="en-US" sz="1400" dirty="0">
                <a:latin typeface="Malgun Gothic"/>
                <a:ea typeface="Malgun Gothic"/>
              </a:rPr>
              <a:t> 1대, </a:t>
            </a:r>
            <a:r>
              <a:rPr lang="ko-KR" altLang="en-US" sz="1400" dirty="0" err="1">
                <a:latin typeface="Malgun Gothic"/>
                <a:ea typeface="Malgun Gothic"/>
              </a:rPr>
              <a:t>Compute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Node</a:t>
            </a:r>
            <a:r>
              <a:rPr lang="ko-KR" altLang="en-US" sz="1400" dirty="0">
                <a:latin typeface="Malgun Gothic"/>
                <a:ea typeface="Malgun Gothic"/>
              </a:rPr>
              <a:t> 2대) </a:t>
            </a:r>
            <a:endParaRPr lang="ko-KR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8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altLang="en-US" sz="1800" b="1" dirty="0" err="1">
                <a:solidFill>
                  <a:srgbClr val="C00000"/>
                </a:solidFill>
                <a:latin typeface="Malgun Gothic"/>
                <a:ea typeface="Malgun Gothic"/>
              </a:rPr>
              <a:t>PaaS</a:t>
            </a:r>
            <a:r>
              <a:rPr lang="ko-KR" altLang="en-US" sz="1800" b="1" dirty="0">
                <a:solidFill>
                  <a:srgbClr val="C00000"/>
                </a:solidFill>
                <a:latin typeface="Malgun Gothic"/>
                <a:ea typeface="Malgun Gothic"/>
              </a:rPr>
              <a:t>(플랫폼 서비스) 레이어 (</a:t>
            </a:r>
            <a:r>
              <a:rPr lang="ko-KR" altLang="en-US" sz="1800" b="1" dirty="0" err="1">
                <a:solidFill>
                  <a:srgbClr val="C00000"/>
                </a:solidFill>
                <a:latin typeface="Malgun Gothic"/>
                <a:ea typeface="Malgun Gothic"/>
              </a:rPr>
              <a:t>Kubernetes</a:t>
            </a:r>
            <a:r>
              <a:rPr lang="ko-KR" altLang="en-US" sz="1800" b="1" dirty="0">
                <a:solidFill>
                  <a:srgbClr val="C00000"/>
                </a:solidFill>
                <a:latin typeface="Malgun Gothic"/>
                <a:ea typeface="Malgun Gothic"/>
              </a:rPr>
              <a:t>)</a:t>
            </a:r>
            <a:r>
              <a:rPr lang="ko-KR" altLang="en-US" sz="1800" dirty="0">
                <a:latin typeface="Malgun Gothic"/>
                <a:ea typeface="Malgun Gothic"/>
              </a:rPr>
              <a:t> :</a:t>
            </a:r>
            <a:endParaRPr lang="en-US" altLang="ko-KR" sz="1800" dirty="0">
              <a:latin typeface="Malgun Gothic"/>
              <a:ea typeface="Malgun Gothic"/>
            </a:endParaRP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lang="ko-KR" altLang="en-US" sz="1400" dirty="0">
                <a:latin typeface="Malgun Gothic"/>
                <a:ea typeface="Malgun Gothic"/>
              </a:rPr>
              <a:t> </a:t>
            </a:r>
            <a:r>
              <a:rPr lang="ko-KR" altLang="en-US" sz="1400" dirty="0" err="1">
                <a:latin typeface="Malgun Gothic"/>
                <a:ea typeface="Malgun Gothic"/>
              </a:rPr>
              <a:t>Openstack</a:t>
            </a:r>
            <a:r>
              <a:rPr lang="ko-KR" altLang="en-US" sz="1400" dirty="0">
                <a:latin typeface="Malgun Gothic"/>
                <a:ea typeface="Malgun Gothic"/>
              </a:rPr>
              <a:t> 인스턴스 위에 </a:t>
            </a:r>
            <a:r>
              <a:rPr lang="ko-KR" altLang="en-US" sz="1400" dirty="0" err="1">
                <a:latin typeface="Malgun Gothic"/>
                <a:ea typeface="Malgun Gothic"/>
              </a:rPr>
              <a:t>Kubernetes</a:t>
            </a:r>
            <a:r>
              <a:rPr lang="ko-KR" altLang="en-US" sz="1400" dirty="0">
                <a:latin typeface="Malgun Gothic"/>
                <a:ea typeface="Malgun Gothic"/>
              </a:rPr>
              <a:t> 클러스터를 배포</a:t>
            </a:r>
            <a:endParaRPr lang="en-US" altLang="ko-KR" sz="1400" dirty="0">
              <a:latin typeface="Malgun Gothic"/>
              <a:ea typeface="Malgun Gothic"/>
            </a:endParaRP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컨테이너화된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workload들을</a:t>
            </a:r>
            <a:r>
              <a:rPr lang="ko-KR" altLang="en-US" sz="1400" dirty="0">
                <a:latin typeface="Malgun Gothic"/>
                <a:ea typeface="Malgun Gothic"/>
              </a:rPr>
              <a:t> 자동으로 </a:t>
            </a:r>
            <a:br>
              <a:rPr lang="ko-KR" altLang="en-US" sz="1400" dirty="0">
                <a:latin typeface="Malgun Gothic"/>
                <a:ea typeface="Malgun Gothic"/>
              </a:rPr>
            </a:br>
            <a:r>
              <a:rPr lang="ko-KR" altLang="en-US" sz="1400" dirty="0">
                <a:latin typeface="Malgun Gothic"/>
                <a:ea typeface="Malgun Gothic"/>
              </a:rPr>
              <a:t> 관리하고 확장할 수 있는 환경 조성</a:t>
            </a:r>
            <a:endParaRPr lang="en-US" altLang="ko-KR" sz="1400" dirty="0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6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dirty="0">
              <a:latin typeface="Malgun Gothic"/>
              <a:ea typeface="Malgun Gothic"/>
            </a:endParaRPr>
          </a:p>
        </p:txBody>
      </p:sp>
      <p:pic>
        <p:nvPicPr>
          <p:cNvPr id="6" name="그림 5" descr="IaaS, PaaS, SaaS 비교: 차이점, 뜻, 예시로 쉽게 이해하기">
            <a:extLst>
              <a:ext uri="{FF2B5EF4-FFF2-40B4-BE49-F238E27FC236}">
                <a16:creationId xmlns:a16="http://schemas.microsoft.com/office/drawing/2014/main" id="{4B235523-B7F1-60BA-116F-88DE486ABB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32" r="33272" b="635"/>
          <a:stretch>
            <a:fillRect/>
          </a:stretch>
        </p:blipFill>
        <p:spPr>
          <a:xfrm>
            <a:off x="1193181" y="1372948"/>
            <a:ext cx="4015058" cy="505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41B6-FC53-A22D-8F5A-E8A86D9D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64FE512-BC3C-70F3-B0D6-8B6E818078E6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>
                <a:latin typeface="Malgun Gothic"/>
                <a:ea typeface="Malgun Gothic"/>
                <a:cs typeface="LilyUPC"/>
              </a:rPr>
              <a:t>2.2 과제 세부 내용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8FD4FEF-C646-1DC7-814E-0095AF68468B}"/>
              </a:ext>
            </a:extLst>
          </p:cNvPr>
          <p:cNvSpPr txBox="1">
            <a:spLocks/>
          </p:cNvSpPr>
          <p:nvPr/>
        </p:nvSpPr>
        <p:spPr>
          <a:xfrm>
            <a:off x="5986346" y="1714114"/>
            <a:ext cx="5376746" cy="41561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 dirty="0">
                <a:latin typeface="Malgun Gothic"/>
                <a:ea typeface="Malgun Gothic"/>
              </a:rPr>
              <a:t> GPU 가상화 및 지능형 스케줄링</a:t>
            </a:r>
          </a:p>
          <a:p>
            <a:pPr>
              <a:defRPr/>
            </a:pPr>
            <a:endParaRPr lang="ko-KR" altLang="en-US" sz="24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altLang="en-US" sz="1800" b="1" dirty="0">
                <a:solidFill>
                  <a:srgbClr val="C00000"/>
                </a:solidFill>
                <a:latin typeface="Malgun Gothic"/>
                <a:ea typeface="Malgun Gothic"/>
              </a:rPr>
              <a:t>GPU PCI </a:t>
            </a:r>
            <a:r>
              <a:rPr lang="ko-KR" altLang="en-US" sz="1800" b="1" dirty="0" err="1">
                <a:solidFill>
                  <a:srgbClr val="C00000"/>
                </a:solidFill>
                <a:latin typeface="Malgun Gothic"/>
                <a:ea typeface="Malgun Gothic"/>
              </a:rPr>
              <a:t>Passthrough</a:t>
            </a:r>
            <a:r>
              <a:rPr lang="ko-KR" altLang="en-US" sz="1800" dirty="0">
                <a:latin typeface="Malgun Gothic"/>
                <a:ea typeface="Malgun Gothic"/>
              </a:rPr>
              <a:t> : </a:t>
            </a: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  <a:defRPr/>
            </a:pPr>
            <a:r>
              <a:rPr lang="ko-KR" altLang="en-US" sz="1400" dirty="0">
                <a:latin typeface="Malgun Gothic"/>
                <a:ea typeface="Malgun Gothic"/>
              </a:rPr>
              <a:t>호스트 서버에 장착된 물리적 GPU 자원을</a:t>
            </a:r>
            <a:br>
              <a:rPr lang="en-US" altLang="ko-KR" sz="1400" dirty="0">
                <a:latin typeface="Malgun Gothic"/>
                <a:ea typeface="Malgun Gothic"/>
              </a:rPr>
            </a:br>
            <a:r>
              <a:rPr lang="ko-KR" altLang="ko-KR" sz="1400" dirty="0" err="1">
                <a:latin typeface="Malgun Gothic"/>
                <a:ea typeface="Malgun Gothic"/>
              </a:rPr>
              <a:t>Hypervisor를</a:t>
            </a:r>
            <a:r>
              <a:rPr lang="ko-KR" altLang="ko-KR" sz="1400" dirty="0">
                <a:latin typeface="Malgun Gothic"/>
                <a:ea typeface="Malgun Gothic"/>
              </a:rPr>
              <a:t> 거치지 </a:t>
            </a:r>
            <a:r>
              <a:rPr lang="ko-KR" altLang="en-US" sz="1400" dirty="0">
                <a:latin typeface="Malgun Gothic"/>
                <a:ea typeface="Malgun Gothic"/>
              </a:rPr>
              <a:t>않고 가상 머신(VM)에 직접 1:1로 할당하는 기술</a:t>
            </a:r>
            <a:endParaRPr lang="ko-KR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8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altLang="en-US" sz="1800" b="1" dirty="0">
                <a:solidFill>
                  <a:srgbClr val="C00000"/>
                </a:solidFill>
                <a:latin typeface="Malgun Gothic"/>
                <a:ea typeface="Malgun Gothic"/>
              </a:rPr>
              <a:t>PCI </a:t>
            </a:r>
            <a:r>
              <a:rPr lang="ko-KR" altLang="en-US" sz="1800" b="1" dirty="0" err="1">
                <a:solidFill>
                  <a:srgbClr val="C00000"/>
                </a:solidFill>
                <a:latin typeface="Malgun Gothic"/>
                <a:ea typeface="Malgun Gothic"/>
              </a:rPr>
              <a:t>Alias</a:t>
            </a:r>
            <a:r>
              <a:rPr lang="ko-KR" altLang="en-US" sz="1800" dirty="0">
                <a:latin typeface="Malgun Gothic"/>
                <a:ea typeface="Malgun Gothic"/>
              </a:rPr>
              <a:t> :</a:t>
            </a:r>
          </a:p>
          <a:p>
            <a:pPr lvl="2">
              <a:lnSpc>
                <a:spcPct val="120000"/>
              </a:lnSpc>
              <a:buFont typeface="Wingdings" panose="020B0604020202020204" pitchFamily="34" charset="0"/>
              <a:buChar char="§"/>
              <a:defRPr/>
            </a:pPr>
            <a:r>
              <a:rPr lang="ko-KR" altLang="en-US" sz="1400" dirty="0" err="1">
                <a:latin typeface="Malgun Gothic"/>
                <a:ea typeface="Malgun Gothic"/>
              </a:rPr>
              <a:t>오픈스택의</a:t>
            </a:r>
            <a:r>
              <a:rPr lang="ko-KR" altLang="en-US" sz="1400" dirty="0">
                <a:latin typeface="Malgun Gothic"/>
                <a:ea typeface="Malgun Gothic"/>
              </a:rPr>
              <a:t> 컴퓨팅 서비스인 </a:t>
            </a:r>
            <a:r>
              <a:rPr lang="ko-KR" altLang="en-US" sz="1400" dirty="0" err="1">
                <a:latin typeface="Malgun Gothic"/>
                <a:ea typeface="Malgun Gothic"/>
              </a:rPr>
              <a:t>Nova에서</a:t>
            </a:r>
            <a:r>
              <a:rPr lang="ko-KR" altLang="en-US" sz="1400" dirty="0">
                <a:latin typeface="Malgun Gothic"/>
                <a:ea typeface="Malgun Gothic"/>
              </a:rPr>
              <a:t> PCI </a:t>
            </a:r>
            <a:r>
              <a:rPr lang="ko-KR" altLang="en-US" sz="1400" dirty="0" err="1">
                <a:latin typeface="Malgun Gothic"/>
                <a:ea typeface="Malgun Gothic"/>
              </a:rPr>
              <a:t>Passthrough</a:t>
            </a:r>
            <a:r>
              <a:rPr lang="ko-KR" altLang="en-US" sz="1400" dirty="0">
                <a:latin typeface="Malgun Gothic"/>
                <a:ea typeface="Malgun Gothic"/>
              </a:rPr>
              <a:t> 기능을 사용할 때, </a:t>
            </a:r>
            <a:br>
              <a:rPr lang="ko-KR" altLang="en-US" sz="1400" dirty="0">
                <a:latin typeface="Malgun Gothic"/>
                <a:ea typeface="Malgun Gothic"/>
              </a:rPr>
            </a:br>
            <a:r>
              <a:rPr lang="ko-KR" altLang="en-US" sz="1400" dirty="0">
                <a:latin typeface="Malgun Gothic"/>
                <a:ea typeface="Malgun Gothic"/>
              </a:rPr>
              <a:t>특정 PCI 장치(GPU)</a:t>
            </a:r>
            <a:r>
              <a:rPr lang="ko-KR" altLang="en-US" sz="1400" dirty="0" err="1">
                <a:latin typeface="Malgun Gothic"/>
                <a:ea typeface="Malgun Gothic"/>
              </a:rPr>
              <a:t>에</a:t>
            </a:r>
            <a:r>
              <a:rPr lang="ko-KR" altLang="en-US" sz="1400" dirty="0">
                <a:latin typeface="Malgun Gothic"/>
                <a:ea typeface="Malgun Gothic"/>
              </a:rPr>
              <a:t> 별칭을 미리 할당하여</a:t>
            </a:r>
            <a:br>
              <a:rPr lang="ko-KR" altLang="en-US" sz="1400" dirty="0">
                <a:latin typeface="Malgun Gothic"/>
                <a:ea typeface="Malgun Gothic"/>
              </a:rPr>
            </a:br>
            <a:r>
              <a:rPr lang="ko-KR" altLang="en-US" sz="1400" dirty="0">
                <a:latin typeface="Malgun Gothic"/>
                <a:ea typeface="Malgun Gothic"/>
              </a:rPr>
              <a:t>노드별 유리한 연산에 따라 작업 자동 배정</a:t>
            </a:r>
          </a:p>
          <a:p>
            <a:pPr>
              <a:defRPr/>
            </a:pPr>
            <a:endParaRPr lang="ko-KR" altLang="en-US" sz="2000" dirty="0">
              <a:latin typeface="Malgun Gothic"/>
              <a:ea typeface="Malgun Gothic"/>
            </a:endParaRPr>
          </a:p>
        </p:txBody>
      </p:sp>
      <p:pic>
        <p:nvPicPr>
          <p:cNvPr id="2" name="그림 1" descr="KVM 기반의 GPU Passthrough 환경 - 네피리티">
            <a:extLst>
              <a:ext uri="{FF2B5EF4-FFF2-40B4-BE49-F238E27FC236}">
                <a16:creationId xmlns:a16="http://schemas.microsoft.com/office/drawing/2014/main" id="{2F2EBC4A-7741-6AEA-720B-A4E07F410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244" y="1598057"/>
            <a:ext cx="4564855" cy="4507228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8870B5A-3921-FA5A-8142-1470EB03DECF}"/>
              </a:ext>
            </a:extLst>
          </p:cNvPr>
          <p:cNvSpPr/>
          <p:nvPr/>
        </p:nvSpPr>
        <p:spPr>
          <a:xfrm>
            <a:off x="3621533" y="4346652"/>
            <a:ext cx="1879153" cy="907778"/>
          </a:xfrm>
          <a:prstGeom prst="ellipse">
            <a:avLst/>
          </a:prstGeom>
          <a:noFill/>
          <a:ln w="28575">
            <a:solidFill>
              <a:srgbClr val="CA1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F638B33-BF2E-3D14-5E01-9DF440CFAD22}"/>
              </a:ext>
            </a:extLst>
          </p:cNvPr>
          <p:cNvSpPr/>
          <p:nvPr/>
        </p:nvSpPr>
        <p:spPr>
          <a:xfrm>
            <a:off x="1428460" y="4207261"/>
            <a:ext cx="1879153" cy="907778"/>
          </a:xfrm>
          <a:prstGeom prst="ellipse">
            <a:avLst/>
          </a:prstGeom>
          <a:noFill/>
          <a:ln w="28575">
            <a:solidFill>
              <a:srgbClr val="CA1F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7D18E0B-8D2A-57EF-FAD4-6F244A3A687A}"/>
              </a:ext>
            </a:extLst>
          </p:cNvPr>
          <p:cNvCxnSpPr/>
          <p:nvPr/>
        </p:nvCxnSpPr>
        <p:spPr>
          <a:xfrm>
            <a:off x="696951" y="3551548"/>
            <a:ext cx="898485" cy="764903"/>
          </a:xfrm>
          <a:prstGeom prst="straightConnector1">
            <a:avLst/>
          </a:prstGeom>
          <a:ln w="28575">
            <a:solidFill>
              <a:srgbClr val="CA1F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168A2E4-EB87-6158-A71E-7111E3AF9DDB}"/>
              </a:ext>
            </a:extLst>
          </p:cNvPr>
          <p:cNvCxnSpPr>
            <a:cxnSpLocks/>
          </p:cNvCxnSpPr>
          <p:nvPr/>
        </p:nvCxnSpPr>
        <p:spPr>
          <a:xfrm>
            <a:off x="845634" y="3477205"/>
            <a:ext cx="2877826" cy="1127318"/>
          </a:xfrm>
          <a:prstGeom prst="straightConnector1">
            <a:avLst/>
          </a:prstGeom>
          <a:ln w="28575">
            <a:solidFill>
              <a:srgbClr val="CA1F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A39D625-ED2B-C6DF-937B-81A008142E74}"/>
              </a:ext>
            </a:extLst>
          </p:cNvPr>
          <p:cNvSpPr txBox="1"/>
          <p:nvPr/>
        </p:nvSpPr>
        <p:spPr>
          <a:xfrm>
            <a:off x="-4065" y="3152833"/>
            <a:ext cx="14386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b="1">
                <a:solidFill>
                  <a:srgbClr val="C00000"/>
                </a:solidFill>
                <a:ea typeface="맑은 고딕"/>
              </a:rPr>
              <a:t>Hypervisor</a:t>
            </a:r>
            <a:endParaRPr lang="ko-KR" altLang="en-US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15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27DB9-C8A7-26FC-C99E-6A68AEDE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5F2D26-B3E6-7E0A-D5BC-7D9C0B63F738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>
                <a:latin typeface="Malgun Gothic"/>
                <a:ea typeface="Malgun Gothic"/>
                <a:cs typeface="LilyUPC"/>
              </a:rPr>
              <a:t>2.2 과제 세부 내용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B2DF8FB-4F07-7992-0B57-62702FB43611}"/>
              </a:ext>
            </a:extLst>
          </p:cNvPr>
          <p:cNvSpPr txBox="1">
            <a:spLocks/>
          </p:cNvSpPr>
          <p:nvPr/>
        </p:nvSpPr>
        <p:spPr>
          <a:xfrm>
            <a:off x="466493" y="4594845"/>
            <a:ext cx="11723647" cy="189807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000" dirty="0">
                <a:latin typeface="Malgun Gothic"/>
                <a:ea typeface="Malgun Gothic"/>
              </a:rPr>
              <a:t> 통합 관제 및 성능 분석 시스템</a:t>
            </a: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altLang="en-US" sz="1600" b="1" dirty="0" err="1">
                <a:solidFill>
                  <a:srgbClr val="C00000"/>
                </a:solidFill>
                <a:latin typeface="Malgun Gothic"/>
                <a:ea typeface="Malgun Gothic"/>
              </a:rPr>
              <a:t>Prometheus</a:t>
            </a:r>
            <a:r>
              <a:rPr lang="ko-KR" altLang="en-US" sz="1600" b="1" dirty="0">
                <a:solidFill>
                  <a:srgbClr val="C00000"/>
                </a:solidFill>
                <a:latin typeface="Malgun Gothic"/>
                <a:ea typeface="Malgun Gothic"/>
              </a:rPr>
              <a:t> + </a:t>
            </a:r>
            <a:r>
              <a:rPr lang="ko-KR" altLang="en-US" sz="1600" b="1" dirty="0" err="1">
                <a:solidFill>
                  <a:srgbClr val="C00000"/>
                </a:solidFill>
                <a:latin typeface="Malgun Gothic"/>
                <a:ea typeface="Malgun Gothic"/>
              </a:rPr>
              <a:t>Grafana</a:t>
            </a:r>
            <a:r>
              <a:rPr lang="ko-KR" altLang="en-US" sz="1600" b="1" dirty="0">
                <a:solidFill>
                  <a:srgbClr val="C00000"/>
                </a:solidFill>
                <a:latin typeface="Malgun Gothic"/>
                <a:ea typeface="Malgun Gothic"/>
              </a:rPr>
              <a:t> + NVIDIA </a:t>
            </a:r>
            <a:r>
              <a:rPr lang="ko-KR" altLang="en-US" sz="1600" b="1" dirty="0" err="1">
                <a:solidFill>
                  <a:srgbClr val="C00000"/>
                </a:solidFill>
                <a:latin typeface="Malgun Gothic"/>
                <a:ea typeface="Malgun Gothic"/>
              </a:rPr>
              <a:t>dcgm</a:t>
            </a:r>
            <a:r>
              <a:rPr lang="ko-KR" altLang="en-US" sz="1600" dirty="0">
                <a:latin typeface="Malgun Gothic"/>
                <a:ea typeface="Malgun Gothic"/>
              </a:rPr>
              <a:t>:</a:t>
            </a: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lang="ko-KR" altLang="en-US" sz="1400" dirty="0" err="1">
                <a:latin typeface="Malgun Gothic"/>
                <a:ea typeface="Malgun Gothic"/>
              </a:rPr>
              <a:t>Prometheus를</a:t>
            </a:r>
            <a:r>
              <a:rPr lang="ko-KR" altLang="en-US" sz="1400" dirty="0">
                <a:latin typeface="Malgun Gothic"/>
                <a:ea typeface="Malgun Gothic"/>
              </a:rPr>
              <a:t> 통해 인프라의 CPU, 메모리 지표를 수집 </a:t>
            </a:r>
            <a:endParaRPr lang="ko-KR" sz="1400" dirty="0">
              <a:latin typeface="맑은 고딕" panose="020F0502020204030204"/>
              <a:ea typeface="맑은 고딕"/>
            </a:endParaRP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lang="ko-KR" altLang="en-US" sz="1400" dirty="0">
                <a:latin typeface="Malgun Gothic"/>
                <a:ea typeface="Malgun Gothic"/>
              </a:rPr>
              <a:t>NVIDIA </a:t>
            </a:r>
            <a:r>
              <a:rPr lang="ko-KR" altLang="en-US" sz="1400" dirty="0" err="1">
                <a:latin typeface="Malgun Gothic"/>
                <a:ea typeface="Malgun Gothic"/>
              </a:rPr>
              <a:t>dcgm</a:t>
            </a:r>
            <a:r>
              <a:rPr lang="ko-KR" altLang="en-US" sz="1400" dirty="0">
                <a:latin typeface="Malgun Gothic"/>
                <a:ea typeface="Malgun Gothic"/>
              </a:rPr>
              <a:t> </a:t>
            </a:r>
            <a:r>
              <a:rPr lang="ko-KR" altLang="en-US" sz="1400" dirty="0" err="1">
                <a:latin typeface="Malgun Gothic"/>
                <a:ea typeface="Malgun Gothic"/>
              </a:rPr>
              <a:t>exporter을</a:t>
            </a:r>
            <a:r>
              <a:rPr lang="ko-KR" altLang="en-US" sz="1400" dirty="0">
                <a:latin typeface="Malgun Gothic"/>
                <a:ea typeface="Malgun Gothic"/>
              </a:rPr>
              <a:t> 통해 </a:t>
            </a:r>
            <a:r>
              <a:rPr lang="ko-KR" altLang="en-US" sz="1400" dirty="0" err="1">
                <a:latin typeface="Malgun Gothic"/>
                <a:ea typeface="Malgun Gothic"/>
              </a:rPr>
              <a:t>GPU의</a:t>
            </a:r>
            <a:r>
              <a:rPr lang="ko-KR" altLang="en-US" sz="1400" dirty="0">
                <a:latin typeface="Malgun Gothic"/>
                <a:ea typeface="Malgun Gothic"/>
              </a:rPr>
              <a:t> 지표를 수집하여 </a:t>
            </a:r>
            <a:r>
              <a:rPr lang="ko-KR" altLang="en-US" sz="1400" dirty="0" err="1">
                <a:latin typeface="Malgun Gothic"/>
                <a:ea typeface="Malgun Gothic"/>
              </a:rPr>
              <a:t>Grafana로</a:t>
            </a:r>
            <a:r>
              <a:rPr lang="ko-KR" altLang="en-US" sz="1400" dirty="0">
                <a:latin typeface="Malgun Gothic"/>
                <a:ea typeface="Malgun Gothic"/>
              </a:rPr>
              <a:t> 시각화</a:t>
            </a:r>
            <a:endParaRPr lang="ko-KR" sz="1400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altLang="en-US" sz="1600" b="1" dirty="0">
                <a:solidFill>
                  <a:srgbClr val="C00000"/>
                </a:solidFill>
                <a:latin typeface="Malgun Gothic"/>
                <a:ea typeface="Malgun Gothic"/>
              </a:rPr>
              <a:t>인프라별 비교 분석</a:t>
            </a:r>
            <a:r>
              <a:rPr lang="ko-KR" altLang="en-US" sz="1600" dirty="0">
                <a:latin typeface="Malgun Gothic"/>
                <a:ea typeface="Malgun Gothic"/>
              </a:rPr>
              <a:t> :</a:t>
            </a: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lang="ko-KR" altLang="en-US" sz="1400" dirty="0">
                <a:latin typeface="Malgun Gothic"/>
                <a:ea typeface="Malgun Gothic"/>
              </a:rPr>
              <a:t>동일한 워크로드를 </a:t>
            </a:r>
            <a:r>
              <a:rPr lang="ko-KR" altLang="en-US" sz="1400" dirty="0" err="1">
                <a:latin typeface="Malgun Gothic"/>
                <a:ea typeface="Malgun Gothic"/>
              </a:rPr>
              <a:t>Bare-Metal</a:t>
            </a:r>
            <a:r>
              <a:rPr lang="ko-KR" altLang="en-US" sz="1400" dirty="0">
                <a:latin typeface="Malgun Gothic"/>
                <a:ea typeface="Malgun Gothic"/>
              </a:rPr>
              <a:t>, </a:t>
            </a:r>
            <a:r>
              <a:rPr lang="ko-KR" altLang="en-US" sz="1400" dirty="0" err="1">
                <a:latin typeface="Malgun Gothic"/>
                <a:ea typeface="Malgun Gothic"/>
              </a:rPr>
              <a:t>Openstack</a:t>
            </a:r>
            <a:r>
              <a:rPr lang="ko-KR" altLang="en-US" sz="1400" dirty="0">
                <a:latin typeface="Malgun Gothic"/>
                <a:ea typeface="Malgun Gothic"/>
              </a:rPr>
              <a:t> 환경에서 실행하여 성능을 정량적으로 분석</a:t>
            </a:r>
            <a:endParaRPr lang="ko-KR" sz="1400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4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18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18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1800" dirty="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1800" dirty="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 sz="2400" dirty="0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 sz="2400" dirty="0">
              <a:latin typeface="Malgun Gothic"/>
              <a:ea typeface="Malgun Gothic"/>
            </a:endParaRPr>
          </a:p>
        </p:txBody>
      </p:sp>
      <p:pic>
        <p:nvPicPr>
          <p:cNvPr id="10" name="그림 9" descr="Monitor Your Computing System with Prometheus, Grafana, Alertmanager, and  Nvidia DCGM | by Antonio Esteves | Medium">
            <a:extLst>
              <a:ext uri="{FF2B5EF4-FFF2-40B4-BE49-F238E27FC236}">
                <a16:creationId xmlns:a16="http://schemas.microsoft.com/office/drawing/2014/main" id="{0B64B136-8B79-9DDE-2225-0155A094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75" y="1588515"/>
            <a:ext cx="3914078" cy="2872503"/>
          </a:xfrm>
          <a:prstGeom prst="rect">
            <a:avLst/>
          </a:prstGeom>
        </p:spPr>
      </p:pic>
      <p:pic>
        <p:nvPicPr>
          <p:cNvPr id="11" name="그림 10" descr="Multinode dashboard extension · Issue #27 · utkuozdemir/nvidia_gpu_exporter">
            <a:extLst>
              <a:ext uri="{FF2B5EF4-FFF2-40B4-BE49-F238E27FC236}">
                <a16:creationId xmlns:a16="http://schemas.microsoft.com/office/drawing/2014/main" id="{0D3C9DA5-570C-8376-D497-E9974594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132" y="1577088"/>
            <a:ext cx="5995639" cy="28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0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8FC8E-D960-1BE6-2B1F-BEED76B9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3869BEA-6223-5B98-0AC4-63493EDD0FD5}"/>
              </a:ext>
            </a:extLst>
          </p:cNvPr>
          <p:cNvSpPr txBox="1">
            <a:spLocks/>
          </p:cNvSpPr>
          <p:nvPr/>
        </p:nvSpPr>
        <p:spPr>
          <a:xfrm>
            <a:off x="729841" y="751019"/>
            <a:ext cx="10515600" cy="624776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>
                <a:latin typeface="Malgun Gothic"/>
                <a:ea typeface="Malgun Gothic"/>
                <a:cs typeface="LilyUPC"/>
              </a:rPr>
              <a:t>2.2 과제 세부 내용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A4BEDE9-9C07-ED33-9D33-D90751EC5328}"/>
              </a:ext>
            </a:extLst>
          </p:cNvPr>
          <p:cNvSpPr txBox="1">
            <a:spLocks/>
          </p:cNvSpPr>
          <p:nvPr/>
        </p:nvSpPr>
        <p:spPr>
          <a:xfrm>
            <a:off x="395056" y="1713533"/>
            <a:ext cx="11604584" cy="467222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sz="2400">
                <a:latin typeface="Malgun Gothic"/>
                <a:ea typeface="Malgun Gothic"/>
              </a:rPr>
              <a:t> 인프라 환경 표준화</a:t>
            </a: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</a:rPr>
              <a:t>OS 및 드라이버 표준화 </a:t>
            </a:r>
            <a:r>
              <a:rPr lang="ko-KR" sz="1800">
                <a:solidFill>
                  <a:srgbClr val="000000"/>
                </a:solidFill>
                <a:latin typeface="Malgun Gothic"/>
                <a:ea typeface="Malgun Gothic"/>
              </a:rPr>
              <a:t>:</a:t>
            </a:r>
            <a:br>
              <a:rPr lang="ko-KR" sz="1800">
                <a:latin typeface="Malgun Gothic"/>
                <a:ea typeface="Malgun Gothic"/>
              </a:rPr>
            </a:br>
            <a:r>
              <a:rPr lang="ko-KR" sz="1800" err="1">
                <a:solidFill>
                  <a:srgbClr val="000000"/>
                </a:solidFill>
                <a:latin typeface="Malgun Gothic"/>
                <a:ea typeface="Malgun Gothic"/>
              </a:rPr>
              <a:t>Ubuntu와</a:t>
            </a:r>
            <a:r>
              <a:rPr lang="ko-KR" sz="1800">
                <a:solidFill>
                  <a:srgbClr val="000000"/>
                </a:solidFill>
                <a:latin typeface="Malgun Gothic"/>
                <a:ea typeface="Malgun Gothic"/>
              </a:rPr>
              <a:t> CUDA 버전을 통일하여 신뢰성 확보</a:t>
            </a:r>
            <a:endParaRPr lang="ko-KR" altLang="en-US" sz="20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sz="18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defRPr/>
            </a:pPr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sz="2400">
                <a:solidFill>
                  <a:srgbClr val="000000"/>
                </a:solidFill>
                <a:latin typeface="Malgun Gothic"/>
                <a:ea typeface="Malgun Gothic"/>
              </a:rPr>
              <a:t>플랫폼 고도화 및 GPU 연동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r>
              <a:rPr lang="en-US" altLang="ko-KR" sz="1800" b="1">
                <a:solidFill>
                  <a:srgbClr val="C00000"/>
                </a:solidFill>
                <a:latin typeface="Malgun Gothic"/>
                <a:ea typeface="Malgun Gothic"/>
              </a:rPr>
              <a:t>NVIDIA GPU Operator </a:t>
            </a:r>
            <a:r>
              <a:rPr lang="ko-KR" altLang="en-US" sz="1800" b="1">
                <a:solidFill>
                  <a:srgbClr val="C00000"/>
                </a:solidFill>
                <a:latin typeface="Malgun Gothic"/>
                <a:ea typeface="Malgun Gothic"/>
              </a:rPr>
              <a:t>활용</a:t>
            </a:r>
            <a:r>
              <a:rPr lang="en-US" altLang="ko-KR" sz="1800" b="1">
                <a:solidFill>
                  <a:srgbClr val="C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:</a:t>
            </a:r>
            <a:br>
              <a:rPr lang="en-US" altLang="ko-KR" sz="1800">
                <a:latin typeface="Malgun Gothic"/>
                <a:ea typeface="Malgun Gothic"/>
              </a:rPr>
            </a:b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Kubernetes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노드마다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GPU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드라이버와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런타임을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자동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설정하고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,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이기종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GPU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사양에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따른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레이블링</a:t>
            </a:r>
            <a:r>
              <a:rPr lang="en-US" altLang="ko-KR" sz="180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ko-KR" altLang="en-US" sz="1800">
                <a:solidFill>
                  <a:srgbClr val="000000"/>
                </a:solidFill>
                <a:latin typeface="Malgun Gothic"/>
                <a:ea typeface="Malgun Gothic"/>
              </a:rPr>
              <a:t>수행</a:t>
            </a:r>
            <a:endParaRPr lang="ko-KR" sz="20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defRPr/>
            </a:pPr>
            <a:endParaRPr lang="ko-KR" sz="1800">
              <a:solidFill>
                <a:srgbClr val="000000"/>
              </a:solidFill>
              <a:latin typeface="Malgun Gothic"/>
              <a:ea typeface="Malgun Gothic"/>
            </a:endParaRPr>
          </a:p>
          <a:p>
            <a:pPr>
              <a:defRPr/>
            </a:pPr>
            <a:r>
              <a:rPr lang="ko-KR" altLang="en-US" sz="2400">
                <a:solidFill>
                  <a:srgbClr val="000000"/>
                </a:solidFill>
                <a:latin typeface="Malgun Gothic"/>
                <a:ea typeface="Malgun Gothic"/>
              </a:rPr>
              <a:t> 실험 통제 및 데이터 정규화</a:t>
            </a:r>
          </a:p>
          <a:p>
            <a:pPr lvl="1">
              <a:buFont typeface="Courier New,monospace" panose="020B0604020202020204" pitchFamily="34" charset="0"/>
              <a:buChar char="o"/>
              <a:defRPr/>
            </a:pPr>
            <a:r>
              <a:rPr lang="ko-KR" altLang="en-US" sz="1800" b="1">
                <a:solidFill>
                  <a:srgbClr val="C00000"/>
                </a:solidFill>
                <a:latin typeface="Malgun Gothic"/>
                <a:ea typeface="Malgun Gothic"/>
              </a:rPr>
              <a:t>상대적 효율 측정</a:t>
            </a:r>
            <a:r>
              <a:rPr lang="en-US" sz="1800">
                <a:latin typeface="Malgun Gothic"/>
                <a:ea typeface="Malgun Gothic"/>
              </a:rPr>
              <a:t>:</a:t>
            </a:r>
            <a:br>
              <a:rPr lang="en-US" sz="1800">
                <a:latin typeface="Malgun Gothic"/>
                <a:ea typeface="Malgun Gothic"/>
              </a:rPr>
            </a:br>
            <a:r>
              <a:rPr lang="ko-KR" altLang="en-US" sz="1800">
                <a:latin typeface="Malgun Gothic"/>
                <a:ea typeface="Malgun Gothic"/>
              </a:rPr>
              <a:t>노드 간 성능 차이를 상쇄하기 위해, 각 Workstation의 </a:t>
            </a:r>
            <a:r>
              <a:rPr lang="ko-KR" altLang="en-US" sz="1800" err="1">
                <a:latin typeface="Malgun Gothic"/>
                <a:ea typeface="Malgun Gothic"/>
              </a:rPr>
              <a:t>Bare-Metal</a:t>
            </a:r>
            <a:r>
              <a:rPr lang="ko-KR" altLang="en-US" sz="1800">
                <a:latin typeface="Malgun Gothic"/>
                <a:ea typeface="Malgun Gothic"/>
              </a:rPr>
              <a:t> 성능을 기준(1.0)으로 상대적 </a:t>
            </a:r>
            <a:r>
              <a:rPr lang="ko-KR" altLang="en-US" sz="1800" err="1">
                <a:latin typeface="Malgun Gothic"/>
                <a:ea typeface="Malgun Gothic"/>
              </a:rPr>
              <a:t>유지율</a:t>
            </a:r>
            <a:r>
              <a:rPr lang="ko-KR" altLang="en-US" sz="1800">
                <a:latin typeface="Malgun Gothic"/>
                <a:ea typeface="Malgun Gothic"/>
              </a:rPr>
              <a:t> 계산</a:t>
            </a:r>
            <a:br>
              <a:rPr lang="en-US" sz="1800">
                <a:latin typeface="Malgun Gothic"/>
                <a:ea typeface="Malgun Gothic"/>
              </a:rPr>
            </a:br>
            <a:br>
              <a:rPr lang="en-US" sz="1800">
                <a:latin typeface="Malgun Gothic"/>
                <a:ea typeface="Malgun Gothic"/>
              </a:rPr>
            </a:br>
            <a:endParaRPr lang="en-US" sz="1800">
              <a:latin typeface="Malgun Gothic"/>
              <a:ea typeface="Malgun Gothic"/>
            </a:endParaRPr>
          </a:p>
          <a:p>
            <a:pPr>
              <a:defRPr/>
            </a:pPr>
            <a:endParaRPr lang="ko-KR" sz="2400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800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800">
              <a:latin typeface="Malgun Gothic"/>
              <a:ea typeface="Malgun Gothic"/>
            </a:endParaRPr>
          </a:p>
          <a:p>
            <a:pPr marL="457200" lvl="1" indent="0">
              <a:buNone/>
              <a:defRPr/>
            </a:pPr>
            <a:endParaRPr lang="ko-KR" altLang="en-US">
              <a:latin typeface="Malgun Gothic"/>
              <a:ea typeface="Malgun Gothic"/>
            </a:endParaRPr>
          </a:p>
          <a:p>
            <a:pPr lvl="1">
              <a:buFont typeface="Courier New" panose="020B0604020202020204" pitchFamily="34" charset="0"/>
              <a:buChar char="o"/>
              <a:defRPr/>
            </a:pPr>
            <a:endParaRPr lang="ko-KR" altLang="en-US" sz="160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>
              <a:latin typeface="Malgun Gothic"/>
              <a:ea typeface="Malgun Gothic"/>
            </a:endParaRPr>
          </a:p>
          <a:p>
            <a:pPr>
              <a:defRPr/>
            </a:pPr>
            <a:endParaRPr lang="ko-KR" altLang="en-US" sz="2000">
              <a:latin typeface="Malgun Gothic"/>
              <a:ea typeface="Malgun Gothic"/>
            </a:endParaRPr>
          </a:p>
          <a:p>
            <a:pPr marL="514350" indent="-514350">
              <a:defRPr/>
            </a:pPr>
            <a:endParaRPr lang="en-US" altLang="ko-KR">
              <a:latin typeface="Malgun Gothic"/>
              <a:ea typeface="Malgun Gothic"/>
            </a:endParaRPr>
          </a:p>
          <a:p>
            <a:pPr marL="0" indent="0">
              <a:buNone/>
              <a:defRPr/>
            </a:pPr>
            <a:endParaRPr lang="en-US" altLang="ko-KR">
              <a:latin typeface="Malgun Gothic"/>
              <a:ea typeface="Malgun Gothic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7BB7A-C7CC-C892-4811-87E262D49DAE}"/>
                  </a:ext>
                </a:extLst>
              </p:cNvPr>
              <p:cNvSpPr txBox="1"/>
              <p:nvPr/>
            </p:nvSpPr>
            <p:spPr>
              <a:xfrm>
                <a:off x="1577494" y="5695767"/>
                <a:ext cx="4619854" cy="526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altLang="ko-KR" i="0" smtClean="0">
                          <a:latin typeface="Cambria Math" panose="02040503050406030204" pitchFamily="18" charset="0"/>
                        </a:rPr>
                        <m:t>fficiency</m:t>
                      </m:r>
                      <m:r>
                        <m:rPr>
                          <m:nor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(%)</m:t>
                      </m:r>
                      <m:r>
                        <m:rPr>
                          <m:nor/>
                        </m:rPr>
                        <a:rPr lang="en-US" altLang="ko-KR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i="0" smtClean="0">
                          <a:latin typeface="Cambria Math" panose="02040503050406030204" pitchFamily="18" charset="0"/>
                        </a:rPr>
                        <m:t> 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OpenstackPerformance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baremetalPerformance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ko-KR" i="0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i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ko-KR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7BB7A-C7CC-C892-4811-87E262D49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494" y="5695767"/>
                <a:ext cx="4619854" cy="52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021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56BC9-E7B5-3B9C-B005-C1222D4453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기대효과</a:t>
            </a:r>
            <a:r>
              <a:rPr lang="en-US" altLang="ko-KR"/>
              <a:t>(</a:t>
            </a:r>
            <a:r>
              <a:rPr lang="ko-KR" altLang="en-US"/>
              <a:t>경제적 </a:t>
            </a:r>
            <a:r>
              <a:rPr lang="en-US" altLang="ko-KR"/>
              <a:t>· </a:t>
            </a:r>
            <a:r>
              <a:rPr lang="ko-KR" altLang="en-US"/>
              <a:t>운영적 측면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3A4BFDC-03B2-3180-27E3-55BE2DDDF302}"/>
              </a:ext>
            </a:extLst>
          </p:cNvPr>
          <p:cNvSpPr txBox="1">
            <a:spLocks/>
          </p:cNvSpPr>
          <p:nvPr/>
        </p:nvSpPr>
        <p:spPr>
          <a:xfrm>
            <a:off x="838200" y="1830705"/>
            <a:ext cx="1081325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400" b="1" dirty="0">
                <a:solidFill>
                  <a:srgbClr val="C00000"/>
                </a:solidFill>
              </a:rPr>
              <a:t>자원 가동률 극대화</a:t>
            </a:r>
            <a:endParaRPr lang="ko-KR" altLang="en-US" sz="2400" b="1" dirty="0">
              <a:solidFill>
                <a:srgbClr val="C00000"/>
              </a:solidFill>
              <a:ea typeface="맑은 고딕"/>
            </a:endParaRP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CPU </a:t>
            </a:r>
            <a:r>
              <a:rPr lang="ko-KR" altLang="en-US" sz="2000" dirty="0"/>
              <a:t>집중 작업과 </a:t>
            </a:r>
            <a:r>
              <a:rPr lang="en-US" altLang="ko-KR" sz="2000" dirty="0"/>
              <a:t>GPU </a:t>
            </a:r>
            <a:r>
              <a:rPr lang="ko-KR" altLang="en-US" sz="2000" dirty="0"/>
              <a:t>집중 작업을 </a:t>
            </a:r>
            <a:r>
              <a:rPr lang="ko-KR" altLang="en-US" sz="2000" dirty="0">
                <a:solidFill>
                  <a:srgbClr val="C00000"/>
                </a:solidFill>
              </a:rPr>
              <a:t>함께 </a:t>
            </a:r>
            <a:r>
              <a:rPr lang="ko-KR" altLang="en-US" sz="2000" dirty="0" err="1">
                <a:solidFill>
                  <a:srgbClr val="C00000"/>
                </a:solidFill>
              </a:rPr>
              <a:t>스케줄링</a:t>
            </a:r>
            <a:r>
              <a:rPr lang="ko-KR" altLang="en-US" sz="2000" dirty="0" err="1"/>
              <a:t>함으로써</a:t>
            </a:r>
            <a:r>
              <a:rPr lang="ko-KR" altLang="en-US" sz="2000" dirty="0"/>
              <a:t> 한 자원이 바쁠 때 유휴 상태인 다른 자원을 즉시 활용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endParaRPr lang="en-US" altLang="ko-KR" sz="2400" dirty="0"/>
          </a:p>
          <a:p>
            <a:pPr>
              <a:lnSpc>
                <a:spcPct val="120000"/>
              </a:lnSpc>
            </a:pPr>
            <a:r>
              <a:rPr lang="ko-KR" altLang="en-US" sz="2400" b="1" dirty="0">
                <a:solidFill>
                  <a:srgbClr val="C00000"/>
                </a:solidFill>
              </a:rPr>
              <a:t>운영 편의성 향상</a:t>
            </a:r>
            <a:endParaRPr lang="ko-KR" altLang="en-US" sz="2400" b="1" dirty="0">
              <a:solidFill>
                <a:srgbClr val="C00000"/>
              </a:solidFill>
              <a:ea typeface="맑은 고딕"/>
            </a:endParaRP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Kubernetes + GPU Operator</a:t>
            </a:r>
            <a:r>
              <a:rPr lang="ko-KR" altLang="en-US" sz="2000" dirty="0"/>
              <a:t>로 </a:t>
            </a:r>
            <a:r>
              <a:rPr lang="en-US" altLang="ko-KR" sz="2000" dirty="0"/>
              <a:t>GPU </a:t>
            </a:r>
            <a:r>
              <a:rPr lang="ko-KR" altLang="en-US" sz="2000" dirty="0"/>
              <a:t>환경 자동 관리 및 유연한 확장 지원</a:t>
            </a:r>
            <a:endParaRPr lang="en-US" altLang="ko-KR" sz="2000" dirty="0"/>
          </a:p>
          <a:p>
            <a:pPr lvl="1">
              <a:lnSpc>
                <a:spcPct val="120000"/>
              </a:lnSpc>
            </a:pPr>
            <a:endParaRPr lang="en-US" altLang="ko-KR" sz="2000" b="1" dirty="0">
              <a:ea typeface="맑은 고딕"/>
            </a:endParaRPr>
          </a:p>
          <a:p>
            <a:pPr>
              <a:lnSpc>
                <a:spcPct val="120000"/>
              </a:lnSpc>
            </a:pPr>
            <a:r>
              <a:rPr lang="ko-KR" altLang="en-US" sz="2400" b="1" dirty="0">
                <a:solidFill>
                  <a:srgbClr val="C00000"/>
                </a:solidFill>
              </a:rPr>
              <a:t>정량적 성능 검증</a:t>
            </a:r>
            <a:endParaRPr lang="en-US" altLang="ko-KR" sz="2400" b="1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ko-KR" sz="2000" dirty="0"/>
              <a:t>Prometheus + Grafana + DCGM</a:t>
            </a:r>
            <a:r>
              <a:rPr lang="ko-KR" altLang="en-US" sz="2000" dirty="0"/>
              <a:t>으로 </a:t>
            </a:r>
            <a:r>
              <a:rPr lang="en-US" altLang="ko-KR" sz="2000" dirty="0"/>
              <a:t>Bare-Metal </a:t>
            </a:r>
            <a:r>
              <a:rPr lang="ko-KR" altLang="en-US" sz="2000" dirty="0"/>
              <a:t>대비 가상화 성능 실시간 비교</a:t>
            </a:r>
            <a:r>
              <a:rPr lang="en-US" altLang="ko-KR" sz="2000" dirty="0"/>
              <a:t>·</a:t>
            </a:r>
            <a:r>
              <a:rPr lang="ko-KR" altLang="en-US" sz="2000" dirty="0"/>
              <a:t>분석</a:t>
            </a:r>
            <a:endParaRPr lang="en-US" altLang="ko-KR" sz="2000" dirty="0"/>
          </a:p>
          <a:p>
            <a:pPr>
              <a:lnSpc>
                <a:spcPct val="120000"/>
              </a:lnSpc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3039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7C69-BBCE-89DB-018E-C8946987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781B5C4-F64A-2D5B-6B19-B62DB60A9E1D}"/>
              </a:ext>
            </a:extLst>
          </p:cNvPr>
          <p:cNvSpPr txBox="1">
            <a:spLocks/>
          </p:cNvSpPr>
          <p:nvPr/>
        </p:nvSpPr>
        <p:spPr>
          <a:xfrm>
            <a:off x="644291" y="3188068"/>
            <a:ext cx="10515600" cy="72074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>
                <a:latin typeface="한컴 고딕"/>
                <a:ea typeface="한컴 고딕"/>
              </a:rPr>
              <a:t>3. 활용 방안</a:t>
            </a:r>
          </a:p>
        </p:txBody>
      </p:sp>
    </p:spTree>
    <p:extLst>
      <p:ext uri="{BB962C8B-B14F-4D97-AF65-F5344CB8AC3E}">
        <p14:creationId xmlns:p14="http://schemas.microsoft.com/office/powerpoint/2010/main" val="252179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56BC9-E7B5-3B9C-B005-C1222D4453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활용방안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D219BCE-4C24-E446-5247-A9D1C12DE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392364"/>
              </p:ext>
            </p:extLst>
          </p:nvPr>
        </p:nvGraphicFramePr>
        <p:xfrm>
          <a:off x="1051560" y="1522307"/>
          <a:ext cx="10088880" cy="42739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61360">
                  <a:extLst>
                    <a:ext uri="{9D8B030D-6E8A-4147-A177-3AD203B41FA5}">
                      <a16:colId xmlns:a16="http://schemas.microsoft.com/office/drawing/2014/main" val="4170266877"/>
                    </a:ext>
                  </a:extLst>
                </a:gridCol>
                <a:gridCol w="6827520">
                  <a:extLst>
                    <a:ext uri="{9D8B030D-6E8A-4147-A177-3AD203B41FA5}">
                      <a16:colId xmlns:a16="http://schemas.microsoft.com/office/drawing/2014/main" val="862085168"/>
                    </a:ext>
                  </a:extLst>
                </a:gridCol>
              </a:tblGrid>
              <a:tr h="854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활용 분야</a:t>
                      </a:r>
                    </a:p>
                  </a:txBody>
                  <a:tcPr anchor="ctr">
                    <a:solidFill>
                      <a:srgbClr val="DA212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내용</a:t>
                      </a:r>
                    </a:p>
                  </a:txBody>
                  <a:tcPr anchor="ctr">
                    <a:solidFill>
                      <a:srgbClr val="DA21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3491"/>
                  </a:ext>
                </a:extLst>
              </a:tr>
              <a:tr h="854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🎓 교육용 테스트베드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차세대 클라우드 엔지니어 양성 실습 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969220"/>
                  </a:ext>
                </a:extLst>
              </a:tr>
              <a:tr h="854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🤖 딥러닝 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/>
                        <a:t>소규모 </a:t>
                      </a:r>
                      <a:r>
                        <a:rPr lang="en-US" altLang="ko-KR" sz="2000"/>
                        <a:t>AI </a:t>
                      </a:r>
                      <a:r>
                        <a:rPr lang="ko-KR" altLang="en-US" sz="2000"/>
                        <a:t>연구 전용 플랫폼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30829"/>
                  </a:ext>
                </a:extLst>
              </a:tr>
              <a:tr h="8547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dirty="0"/>
                        <a:t>☁️ </a:t>
                      </a:r>
                      <a:r>
                        <a:rPr lang="en-US" altLang="ko-KR" sz="2000" dirty="0" err="1"/>
                        <a:t>GaaS</a:t>
                      </a:r>
                      <a:r>
                        <a:rPr lang="en-US" altLang="ko-KR" sz="2000" dirty="0"/>
                        <a:t> </a:t>
                      </a:r>
                      <a:r>
                        <a:rPr lang="ko-KR" altLang="en-US" sz="2000" dirty="0"/>
                        <a:t>확장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/>
                        <a:t>GPU-as-a-Service </a:t>
                      </a:r>
                      <a:r>
                        <a:rPr lang="ko-KR" altLang="en-US" sz="2000"/>
                        <a:t>모델로 다중 사용자 자원 독립 할당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155904"/>
                  </a:ext>
                </a:extLst>
              </a:tr>
              <a:tr h="854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📊 벤치마킹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신규 가상화 기술</a:t>
                      </a:r>
                      <a:r>
                        <a:rPr lang="en-US" altLang="ko-KR" sz="2000" dirty="0"/>
                        <a:t>·</a:t>
                      </a:r>
                      <a:r>
                        <a:rPr lang="ko-KR" altLang="en-US" sz="2000" dirty="0"/>
                        <a:t>하드웨어 도입 시 성능 비교 기준선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217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06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56BC9-E7B5-3B9C-B005-C1222D4453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주차별 추진 일정 </a:t>
            </a:r>
            <a:r>
              <a:rPr lang="en-US" altLang="ko-KR"/>
              <a:t>(Gantt </a:t>
            </a:r>
            <a:r>
              <a:rPr lang="ko-KR" altLang="en-US"/>
              <a:t>차트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3A4BFDC-03B2-3180-27E3-55BE2DDDF302}"/>
              </a:ext>
            </a:extLst>
          </p:cNvPr>
          <p:cNvSpPr txBox="1">
            <a:spLocks/>
          </p:cNvSpPr>
          <p:nvPr/>
        </p:nvSpPr>
        <p:spPr>
          <a:xfrm>
            <a:off x="838200" y="18307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0E2E09-8B04-6BC7-FF0E-0B8D6DCAE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4" y="1356511"/>
            <a:ext cx="11867872" cy="513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1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8EFD0E890091246B7C9FBF10AA69A0A" ma:contentTypeVersion="14" ma:contentTypeDescription="새 문서를 만듭니다." ma:contentTypeScope="" ma:versionID="aae8e50b7f48342d730e04a1c3ee45a3">
  <xsd:schema xmlns:xsd="http://www.w3.org/2001/XMLSchema" xmlns:xs="http://www.w3.org/2001/XMLSchema" xmlns:p="http://schemas.microsoft.com/office/2006/metadata/properties" xmlns:ns3="70d1b854-2bfd-44ac-bb2a-b99cb65eb5b2" targetNamespace="http://schemas.microsoft.com/office/2006/metadata/properties" ma:root="true" ma:fieldsID="14d1b201e0e2d2022e2a3308e0fbf14b" ns3:_="">
    <xsd:import namespace="70d1b854-2bfd-44ac-bb2a-b99cb65eb5b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1b854-2bfd-44ac-bb2a-b99cb65eb5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d1b854-2bfd-44ac-bb2a-b99cb65eb5b2" xsi:nil="true"/>
  </documentManagement>
</p:properties>
</file>

<file path=customXml/itemProps1.xml><?xml version="1.0" encoding="utf-8"?>
<ds:datastoreItem xmlns:ds="http://schemas.openxmlformats.org/officeDocument/2006/customXml" ds:itemID="{599D4636-588A-4BEF-A1A1-4A289FFF54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CA2D08-7FCC-46A5-A044-64E0B05C0D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1b854-2bfd-44ac-bb2a-b99cb65eb5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17A079-3C19-43F5-826A-06CDC54CD03A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70d1b854-2bfd-44ac-bb2a-b99cb65eb5b2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742</Words>
  <Application>Microsoft Office PowerPoint</Application>
  <PresentationFormat>와이드스크린</PresentationFormat>
  <Paragraphs>148</Paragraphs>
  <Slides>19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Courier New,monospace</vt:lpstr>
      <vt:lpstr>맑은 고딕</vt:lpstr>
      <vt:lpstr>맑은 고딕</vt:lpstr>
      <vt:lpstr>한컴 고딕</vt:lpstr>
      <vt:lpstr>Arial</vt:lpstr>
      <vt:lpstr>Cambria Math</vt:lpstr>
      <vt:lpstr>Courier New</vt:lpstr>
      <vt:lpstr>LilyUPC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프로젝트 목표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기대효과(경제적 · 운영적 측면)</vt:lpstr>
      <vt:lpstr>PowerPoint 프레젠테이션</vt:lpstr>
      <vt:lpstr>활용방안</vt:lpstr>
      <vt:lpstr>주차별 추진 일정 (Gantt 차트)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hyeeun</dc:creator>
  <cp:lastModifiedBy>김형우</cp:lastModifiedBy>
  <cp:revision>6</cp:revision>
  <dcterms:created xsi:type="dcterms:W3CDTF">2018-05-29T13:08:36Z</dcterms:created>
  <dcterms:modified xsi:type="dcterms:W3CDTF">2026-03-16T12:06:59Z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0x010100E8EFD0E890091246B7C9FBF10AA69A0A</vt:lpwstr>
  </property>
</Properties>
</file>